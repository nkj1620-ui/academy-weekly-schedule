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2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599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screen in Zoom before the student joins. Fill in the session date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(for teacher, not shown to student): 1-a, 2-b, 3-a, 4-a, 5-routine, 6-displaced. Q7-9 are open-ended — grade for text-based reasoning, not one right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A23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881360" y="5212080"/>
            <a:ext cx="2377440" cy="237744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G8-9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 Walk to Water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F3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 — Two Lives, One Land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7863840" cy="1737360"/>
          </a:xfrm>
          <a:prstGeom prst="roundRect">
            <a:avLst>
              <a:gd name="adj" fmla="val 5263"/>
            </a:avLst>
          </a:prstGeom>
          <a:solidFill>
            <a:srgbClr val="1A232C"/>
          </a:solidFill>
          <a:ln w="12700">
            <a:solidFill>
              <a:srgbClr val="1E77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14300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605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can describe Nya's and Salva's worlds, explain why the author tells their stories in parallel, and use at least two new vocabulary words.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Date: ____</a:t>
            </a:r>
            <a:r>
              <a:rPr lang="en-US" altLang="ko-KR" sz="14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18th</a:t>
            </a:r>
            <a:r>
              <a:rPr lang="en-US" sz="14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 ·  Full class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 the World?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4552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194560" y="2743200"/>
            <a:ext cx="5760720" cy="0"/>
          </a:xfrm>
          <a:prstGeom prst="line">
            <a:avLst/>
          </a:prstGeom>
          <a:noFill/>
          <a:ln w="25400">
            <a:solidFill>
              <a:srgbClr val="1E77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05840" y="2148840"/>
            <a:ext cx="1188720" cy="11887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47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SUDAN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village for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Nya and Salva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2148840"/>
            <a:ext cx="1188720" cy="11887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8056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447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Refugee camp on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Salva's journey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2148840"/>
            <a:ext cx="1188720" cy="11887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95528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3447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794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Kakuma refugee camp,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in Salva's story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6460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route — not drawn to scale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38928"/>
            <a:ext cx="11274552" cy="1170432"/>
          </a:xfrm>
          <a:prstGeom prst="roundRect">
            <a:avLst>
              <a:gd name="adj" fmla="val 7813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5248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FACTS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504688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time of the story, Sudan was the largest country in Africa.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civil war (1983–2005) forced huge numbers of people — including many children known as “Lost Boys” — to flee on foot.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Nya's family moves between two homes during the year to be near water and grazing land.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2 of 15</a:t>
            </a:r>
            <a:endParaRPr lang="en-US" sz="10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5771C24B-6E5F-4E7E-2523-A3BA94AB7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195" y="1890061"/>
            <a:ext cx="2630805" cy="27578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Session, Start to Finish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88920" y="2084832"/>
            <a:ext cx="1005840" cy="320040"/>
          </a:xfrm>
          <a:prstGeom prst="roundRect">
            <a:avLst>
              <a:gd name="adj" fmla="val 45714"/>
            </a:avLst>
          </a:prstGeom>
          <a:solidFill>
            <a:srgbClr val="F3ED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788920" y="2084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906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story to your own life.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0" y="205740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44805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084832"/>
            <a:ext cx="1005840" cy="320040"/>
          </a:xfrm>
          <a:prstGeom prst="roundRect">
            <a:avLst>
              <a:gd name="adj" fmla="val 45714"/>
            </a:avLst>
          </a:prstGeom>
          <a:solidFill>
            <a:srgbClr val="F3ED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583680" y="2084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0906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four key passages from Chapters 1–2 together.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75320" y="205740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8275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378440" y="2084832"/>
            <a:ext cx="1005840" cy="320040"/>
          </a:xfrm>
          <a:prstGeom prst="roundRect">
            <a:avLst>
              <a:gd name="adj" fmla="val 45714"/>
            </a:avLst>
          </a:prstGeom>
          <a:solidFill>
            <a:srgbClr val="F3ED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0378440" y="20848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09067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and interpret what you just read.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788920" y="4279392"/>
            <a:ext cx="1005840" cy="320040"/>
          </a:xfrm>
          <a:prstGeom prst="roundRect">
            <a:avLst>
              <a:gd name="adj" fmla="val 45714"/>
            </a:avLst>
          </a:prstGeom>
          <a:solidFill>
            <a:srgbClr val="F3ED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788920" y="4279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Memorize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285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five new vocabulary words.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5196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480560" y="425196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44805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583680" y="4279392"/>
            <a:ext cx="1005840" cy="320040"/>
          </a:xfrm>
          <a:prstGeom prst="roundRect">
            <a:avLst>
              <a:gd name="adj" fmla="val 45714"/>
            </a:avLst>
          </a:prstGeom>
          <a:solidFill>
            <a:srgbClr val="F3ED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6583680" y="4279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5285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vocabulary and comprehension.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46720" y="40233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8275320" y="425196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82753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378440" y="4279392"/>
            <a:ext cx="1005840" cy="320040"/>
          </a:xfrm>
          <a:prstGeom prst="roundRect">
            <a:avLst>
              <a:gd name="adj" fmla="val 45714"/>
            </a:avLst>
          </a:prstGeom>
          <a:solidFill>
            <a:srgbClr val="F3ED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0378440" y="4279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27532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275320" y="528523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reflect, and plan the next session.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≈ 55 minutes — adjust the pace to fit your class length.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3 of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WARM-UP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Conversation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40112" y="3657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40112" y="365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64008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103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Question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889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you had to walk a long way every day to get something your family needed, what would make that walk easier?”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40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Is there anything your own family has to work hard to get?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5669280" cy="0"/>
          </a:xfrm>
          <a:prstGeom prst="line">
            <a:avLst/>
          </a:prstGeom>
          <a:noFill/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4709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29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four key passages from Chapters 1–2, discuss them, learn new words, and take a short check.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178040" y="1783080"/>
            <a:ext cx="4572000" cy="4160520"/>
          </a:xfrm>
          <a:prstGeom prst="roundRect">
            <a:avLst>
              <a:gd name="adj" fmla="val 2198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45236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4231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alternates between two narrators. Before reading, make sure the student can keep Nya (2008) and Salva (1985) straight — who they are, where they are, and what each is doing.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52360" y="4297680"/>
            <a:ext cx="4023360" cy="0"/>
          </a:xfrm>
          <a:prstGeom prst="line">
            <a:avLst/>
          </a:prstGeom>
          <a:noFill/>
          <a:ln w="12700">
            <a:solidFill>
              <a:srgbClr val="55534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452360" y="4480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8006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reason, not just “a car.”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to the student's own life.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4 of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READ (1 of 4)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Nya's Walk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— Southern Sudan, 2008 · opening of Chapter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11274552" cy="384178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9050">
            <a:solidFill>
              <a:srgbClr val="1E77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48716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79776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page 7  —  starts with: “Going was easy…”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8"/>
            <a:ext cx="10634472" cy="2039112"/>
          </a:xfrm>
          <a:prstGeom prst="roundRect">
            <a:avLst>
              <a:gd name="adj" fmla="val 3750"/>
            </a:avLst>
          </a:prstGeom>
          <a:solidFill>
            <a:srgbClr val="F3EDE1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246119"/>
            <a:ext cx="10360152" cy="1772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dirty="0"/>
              <a:t>	</a:t>
            </a:r>
            <a:r>
              <a:rPr lang="ko-KR" altLang="ko-KR" sz="1400" dirty="0" err="1"/>
              <a:t>Going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big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plastic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container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held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only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air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Tall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for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eleven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years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Nya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could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switch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handle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from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one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hand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other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swing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container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side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or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cradle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both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arms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She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could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even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drag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behind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her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bumping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against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ground</a:t>
            </a:r>
            <a:r>
              <a:rPr lang="ko-KR" altLang="ko-KR" sz="1400" dirty="0"/>
              <a:t> and </a:t>
            </a:r>
            <a:r>
              <a:rPr lang="ko-KR" altLang="ko-KR" sz="1400" dirty="0" err="1"/>
              <a:t>raising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tiny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cloud</a:t>
            </a:r>
            <a:r>
              <a:rPr lang="ko-KR" altLang="ko-KR" sz="1400" dirty="0"/>
              <a:t> of </a:t>
            </a:r>
            <a:r>
              <a:rPr lang="ko-KR" altLang="ko-KR" sz="1400" dirty="0" err="1"/>
              <a:t>dust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with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each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step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ko-KR" sz="1400" dirty="0" err="1"/>
              <a:t>There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little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weight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going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There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only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heat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sun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already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baking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air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even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though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long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before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noon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It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would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take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half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morning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didn't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stop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way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ko-KR" sz="1400" dirty="0" err="1"/>
              <a:t>Heat</a:t>
            </a:r>
            <a:r>
              <a:rPr lang="ko-KR" altLang="ko-KR" sz="1400" dirty="0"/>
              <a:t>. Time. And </a:t>
            </a:r>
            <a:r>
              <a:rPr lang="ko-KR" altLang="ko-KR" sz="1400" dirty="0" err="1"/>
              <a:t>thorns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b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Nya's walk to fetch water — the heat, the distance, and the empty container she carries.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6189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reading, ask: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9330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passage show about what Nya's body and day go through?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5 of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READ (2 of 4)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Salva's Classroom &amp; Family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— Southern Sudan, 1985 · Chapter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600" y="2404871"/>
            <a:ext cx="11274552" cy="3949337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9050">
            <a:solidFill>
              <a:srgbClr val="1E77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48716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79776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pages 7–9  —  starts with: “Salva sat cross-legged…”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8"/>
            <a:ext cx="10634472" cy="2039112"/>
          </a:xfrm>
          <a:prstGeom prst="roundRect">
            <a:avLst>
              <a:gd name="adj" fmla="val 3750"/>
            </a:avLst>
          </a:prstGeom>
          <a:solidFill>
            <a:srgbClr val="F3EDE1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24612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dirty="0"/>
              <a:t>	</a:t>
            </a:r>
            <a:r>
              <a:rPr lang="ko-KR" altLang="ko-KR" sz="1400" dirty="0" err="1"/>
              <a:t>Salva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sat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cross-legged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bench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kept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his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head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turned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toward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front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hands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folded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back</a:t>
            </a:r>
            <a:r>
              <a:rPr lang="ko-KR" altLang="ko-KR" sz="1400" dirty="0"/>
              <a:t> </a:t>
            </a:r>
            <a:r>
              <a:rPr lang="ko-KR" altLang="ko-KR" sz="1400" dirty="0" err="1"/>
              <a:t>perfectly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straight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Everything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about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him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paying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attention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teacher</a:t>
            </a:r>
            <a:r>
              <a:rPr lang="ko-KR" altLang="ko-KR" sz="1400" dirty="0"/>
              <a:t>—</a:t>
            </a:r>
            <a:r>
              <a:rPr lang="ko-KR" altLang="ko-KR" sz="1400" dirty="0" err="1"/>
              <a:t>everything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except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his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eyes</a:t>
            </a:r>
            <a:r>
              <a:rPr lang="ko-KR" altLang="ko-KR" sz="1400" dirty="0"/>
              <a:t> and </a:t>
            </a:r>
            <a:r>
              <a:rPr lang="ko-KR" altLang="ko-KR" sz="1400" dirty="0" err="1"/>
              <a:t>his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mind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ko-KR" sz="1400" dirty="0" err="1"/>
              <a:t>His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eyes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kept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flicking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toward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window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through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which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could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see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road</a:t>
            </a:r>
            <a:r>
              <a:rPr lang="ko-KR" altLang="ko-KR" sz="1400" dirty="0"/>
              <a:t>. The </a:t>
            </a:r>
            <a:r>
              <a:rPr lang="ko-KR" altLang="ko-KR" sz="1400" dirty="0" err="1"/>
              <a:t>road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home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Just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little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while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longer</a:t>
            </a:r>
            <a:r>
              <a:rPr lang="ko-KR" altLang="ko-KR" sz="1400" dirty="0"/>
              <a:t>—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few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minutes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more</a:t>
            </a:r>
            <a:r>
              <a:rPr lang="ko-KR" altLang="ko-KR" sz="1400" dirty="0"/>
              <a:t>— and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would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walking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that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road</a:t>
            </a:r>
            <a:r>
              <a:rPr lang="ko-KR" altLang="ko-KR" sz="1400" dirty="0"/>
              <a:t>.</a:t>
            </a:r>
            <a: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300" i="1" dirty="0">
              <a:solidFill>
                <a:srgbClr val="746A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400" dirty="0"/>
              <a:t>…	</a:t>
            </a:r>
            <a:r>
              <a:rPr lang="ko-KR" altLang="ko-KR" sz="1400" dirty="0" err="1"/>
              <a:t>Salva's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father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successful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man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owned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many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head</a:t>
            </a:r>
            <a:r>
              <a:rPr lang="ko-KR" altLang="ko-KR" sz="1400" dirty="0"/>
              <a:t> of </a:t>
            </a:r>
            <a:r>
              <a:rPr lang="ko-KR" altLang="ko-KR" sz="1400" dirty="0" err="1"/>
              <a:t>cattle</a:t>
            </a:r>
            <a:r>
              <a:rPr lang="ko-KR" altLang="ko-KR" sz="1400" dirty="0"/>
              <a:t> and </a:t>
            </a:r>
            <a:r>
              <a:rPr lang="ko-KR" altLang="ko-KR" sz="1400" dirty="0" err="1"/>
              <a:t>worked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their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village's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judge</a:t>
            </a:r>
            <a:r>
              <a:rPr lang="ko-KR" altLang="ko-KR" sz="1400" dirty="0"/>
              <a:t>—</a:t>
            </a:r>
            <a:r>
              <a:rPr lang="ko-KR" altLang="ko-KR" sz="1400" dirty="0" err="1"/>
              <a:t>an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honored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respected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position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Salva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had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three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brothers</a:t>
            </a:r>
            <a:r>
              <a:rPr lang="ko-KR" altLang="ko-KR" sz="1400" dirty="0"/>
              <a:t> and </a:t>
            </a:r>
            <a:r>
              <a:rPr lang="ko-KR" altLang="ko-KR" sz="1400" dirty="0" err="1"/>
              <a:t>two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sisters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each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boy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reached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age</a:t>
            </a:r>
            <a:r>
              <a:rPr lang="ko-KR" altLang="ko-KR" sz="1400" dirty="0"/>
              <a:t> of </a:t>
            </a:r>
            <a:r>
              <a:rPr lang="ko-KR" altLang="ko-KR" sz="1400" dirty="0" err="1"/>
              <a:t>about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ten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years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sent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off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school</a:t>
            </a:r>
            <a:r>
              <a:rPr lang="ko-KR" altLang="ko-KR" sz="1400" dirty="0"/>
              <a:t>. </a:t>
            </a:r>
            <a:b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Salva in class, his father's position in the village, or his brothers' and sisters' roles.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696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reading, ask: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93020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passage reveal about Salva's family's place in the community?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6 of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READ (3 of 4)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Gunfire and Flight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— Southern Sudan, 1985 · end of Chapter One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6591" y="2404871"/>
            <a:ext cx="11274552" cy="362276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9050">
            <a:solidFill>
              <a:srgbClr val="1E77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48716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79776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pages 10–11  —  starts with: “CRACK! The noise had come from outside…”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7"/>
            <a:ext cx="10634472" cy="1828801"/>
          </a:xfrm>
          <a:prstGeom prst="roundRect">
            <a:avLst>
              <a:gd name="adj" fmla="val 3750"/>
            </a:avLst>
          </a:prstGeom>
          <a:solidFill>
            <a:srgbClr val="F3EDE1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246120"/>
            <a:ext cx="10360152" cy="1699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gunshot</a:t>
            </a:r>
            <a:r>
              <a:rPr lang="ko-KR" altLang="ko-KR" sz="1400" dirty="0"/>
              <a:t>? </a:t>
            </a:r>
            <a:r>
              <a:rPr lang="ko-KR" altLang="ko-KR" sz="1400" dirty="0" err="1"/>
              <a:t>Or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just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car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backfiring</a:t>
            </a:r>
            <a:r>
              <a:rPr lang="ko-KR" altLang="ko-KR" sz="1400" dirty="0"/>
              <a:t>? The </a:t>
            </a:r>
            <a:r>
              <a:rPr lang="ko-KR" altLang="ko-KR" sz="1400" dirty="0" err="1"/>
              <a:t>teacher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stopped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talking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for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moment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Every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head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room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turned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toward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window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ko-KR" sz="1400" dirty="0" err="1"/>
              <a:t>Nothing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Silence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ko-KR" altLang="ko-KR" sz="1400" dirty="0"/>
              <a:t>The </a:t>
            </a:r>
            <a:r>
              <a:rPr lang="ko-KR" altLang="ko-KR" sz="1400" dirty="0" err="1"/>
              <a:t>teacher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cleared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his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throat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which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drew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boys</a:t>
            </a:r>
            <a:r>
              <a:rPr lang="ko-KR" altLang="ko-KR" sz="1400" dirty="0"/>
              <a:t>' </a:t>
            </a:r>
            <a:r>
              <a:rPr lang="ko-KR" altLang="ko-KR" sz="1400" dirty="0" err="1"/>
              <a:t>attention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front</a:t>
            </a:r>
            <a:r>
              <a:rPr lang="ko-KR" altLang="ko-KR" sz="1400" dirty="0"/>
              <a:t> of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room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again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continued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lesson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from</a:t>
            </a:r>
            <a:r>
              <a:rPr lang="ko-KR" altLang="ko-KR" sz="1400" dirty="0"/>
              <a:t> </a:t>
            </a:r>
            <a:endParaRPr lang="en-US" altLang="ko-KR" sz="1400" dirty="0"/>
          </a:p>
          <a:p>
            <a:r>
              <a:rPr lang="ko-KR" altLang="ko-KR" sz="1400" dirty="0" err="1"/>
              <a:t>where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had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left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off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r>
              <a:rPr lang="ko-KR" altLang="ko-KR" sz="1400" dirty="0" err="1"/>
              <a:t>Then</a:t>
            </a:r>
            <a:r>
              <a:rPr lang="ko-KR" altLang="ko-KR" sz="1400" dirty="0"/>
              <a:t>— </a:t>
            </a:r>
            <a:br>
              <a:rPr lang="en-US" altLang="ko-KR" sz="1400" dirty="0"/>
            </a:br>
            <a:r>
              <a:rPr lang="en-US" altLang="ko-KR" sz="1400" dirty="0"/>
              <a:t>	</a:t>
            </a:r>
            <a:r>
              <a:rPr lang="ko-KR" altLang="ko-KR" sz="1400" dirty="0"/>
              <a:t>CRACK! POP-POP-CRACK!</a:t>
            </a:r>
            <a:endParaRPr lang="en-US" altLang="ko-KR" sz="1400" dirty="0"/>
          </a:p>
          <a:p>
            <a:endParaRPr lang="en-US" sz="1400" i="1" dirty="0">
              <a:solidFill>
                <a:srgbClr val="746A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i="1" dirty="0">
              <a:solidFill>
                <a:srgbClr val="746A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i="1" dirty="0">
              <a:solidFill>
                <a:srgbClr val="746A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i="1" dirty="0">
              <a:solidFill>
                <a:srgbClr val="746A5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moment gunfire interrupts class and the teacher tells the students what to do.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233199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reading, ask: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75514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teacher tell the boys to run into the bush instead of home?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7 of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READ (4 of 4)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Alone in the Barn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— Southern Sudan, 1985 · end of Chapter Two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274552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9050">
            <a:solidFill>
              <a:srgbClr val="1E77A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487168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79776"/>
            <a:ext cx="10634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page 16  —  starts with: “Even before he was fully awake…”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8"/>
            <a:ext cx="10634472" cy="1463040"/>
          </a:xfrm>
          <a:prstGeom prst="roundRect">
            <a:avLst>
              <a:gd name="adj" fmla="val 3750"/>
            </a:avLst>
          </a:prstGeom>
          <a:solidFill>
            <a:srgbClr val="F3EDE1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324612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300" i="1" dirty="0">
                <a:solidFill>
                  <a:srgbClr val="746A5C"/>
                </a:solidFill>
                <a:latin typeface="Calibri" pitchFamily="34" charset="0"/>
                <a:cs typeface="Calibri" pitchFamily="34" charset="-120"/>
              </a:rPr>
              <a:t>,,,</a:t>
            </a:r>
            <a:r>
              <a:rPr lang="ko-KR" altLang="ko-KR" sz="1400" dirty="0" err="1"/>
              <a:t>Salva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could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feel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that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something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wrong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lay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very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still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with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his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eyes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closed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trying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sense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what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might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be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r>
              <a:rPr lang="ko-KR" altLang="ko-KR" sz="1400" dirty="0" err="1"/>
              <a:t>Finally</a:t>
            </a:r>
            <a:r>
              <a:rPr lang="ko-KR" altLang="ko-KR" sz="1400" dirty="0"/>
              <a:t>,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sat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up</a:t>
            </a:r>
            <a:r>
              <a:rPr lang="ko-KR" altLang="ko-KR" sz="1400" dirty="0"/>
              <a:t> and </a:t>
            </a:r>
            <a:r>
              <a:rPr lang="ko-KR" altLang="ko-KR" sz="1400" dirty="0" err="1"/>
              <a:t>opened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his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eyes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No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one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else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barn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r>
              <a:rPr lang="ko-KR" altLang="ko-KR" sz="1400" dirty="0" err="1"/>
              <a:t>Salva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stood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so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quickly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that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for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moment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felt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dizzy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rushed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to</a:t>
            </a:r>
            <a:r>
              <a:rPr lang="ko-KR" altLang="ko-KR" sz="1400" dirty="0"/>
              <a:t> </a:t>
            </a:r>
            <a:r>
              <a:rPr lang="ko-KR" altLang="ko-KR" sz="1400" dirty="0" err="1"/>
              <a:t>the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door</a:t>
            </a:r>
            <a:r>
              <a:rPr lang="ko-KR" altLang="ko-KR" sz="1400" dirty="0"/>
              <a:t> and </a:t>
            </a:r>
            <a:r>
              <a:rPr lang="ko-KR" altLang="ko-KR" sz="1400" dirty="0" err="1"/>
              <a:t>looked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out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Nobody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Nothing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They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had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left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him</a:t>
            </a:r>
            <a:r>
              <a:rPr lang="ko-KR" altLang="ko-KR" sz="1400" dirty="0"/>
              <a:t>. </a:t>
            </a:r>
            <a:r>
              <a:rPr lang="ko-KR" altLang="ko-KR" sz="1400" dirty="0" err="1"/>
              <a:t>He</a:t>
            </a:r>
            <a:r>
              <a:rPr lang="ko-KR" altLang="ko-KR" sz="1400" dirty="0"/>
              <a:t> </a:t>
            </a:r>
            <a:r>
              <a:rPr lang="ko-KR" altLang="ko-KR" sz="1400" dirty="0" err="1"/>
              <a:t>was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alone</a:t>
            </a:r>
            <a:r>
              <a:rPr lang="ko-KR" altLang="ko-KR" sz="1400" dirty="0"/>
              <a:t>. 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sz="130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moment Salva wakes up in the barn and realizes what has happened.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reading, ask: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2920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moment such a turning point for Salva?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8 of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SOLVE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Reading to Interpretation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40112" y="3657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40112" y="365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947672"/>
            <a:ext cx="41605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Nya's day and Salva's day similar? How are they different?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63640" y="2011680"/>
            <a:ext cx="457200" cy="45720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263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47672"/>
            <a:ext cx="41605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learn about Salva's family and community in Chapter One?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5800" y="3904488"/>
            <a:ext cx="457200" cy="45720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8580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840480"/>
            <a:ext cx="41605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Nya's daily task suggest about what her family needs?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35040" y="3675888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63640" y="3904488"/>
            <a:ext cx="457200" cy="45720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626364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840480"/>
            <a:ext cx="41605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the author choose to alternate between 1985 and 2008?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200" y="553212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685800" y="5532120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follow-up for every answer: “What in the text makes you think that?” — have the student locate the passage and explain it in their own words.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9 of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MEMORIZE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Words: Part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40112" y="3657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40112" y="365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594360" cy="59436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96596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9659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easily found; in short supply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2011680"/>
            <a:ext cx="0" cy="1051560"/>
          </a:xfrm>
          <a:prstGeom prst="line">
            <a:avLst/>
          </a:prstGeom>
          <a:noFill/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86384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“Something that is scarce at my house is …”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594360" cy="59436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3152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56616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Displaced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566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 leave one's home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35240" y="3611880"/>
            <a:ext cx="0" cy="1051560"/>
          </a:xfrm>
          <a:prstGeom prst="line">
            <a:avLst/>
          </a:prstGeom>
          <a:noFill/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863840" y="3566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it feel to be displaced from your home?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31520" y="5440680"/>
            <a:ext cx="594360" cy="59436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73152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16636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51663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regular way of doing something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635240" y="5212080"/>
            <a:ext cx="0" cy="1051560"/>
          </a:xfrm>
          <a:prstGeom prst="line">
            <a:avLst/>
          </a:prstGeom>
          <a:noFill/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7863840" y="51663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53949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part of your morning routine?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10 of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MEMORIZE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Words: Part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40112" y="3657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40112" y="365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594360" cy="59436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96596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9659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recover quickly from difficulty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2011680"/>
            <a:ext cx="0" cy="1051560"/>
          </a:xfrm>
          <a:prstGeom prst="line">
            <a:avLst/>
          </a:prstGeom>
          <a:noFill/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86384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2194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time you had to be resilient.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594360" cy="59436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3152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56616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35661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at the same time, alongside something else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35240" y="3611880"/>
            <a:ext cx="0" cy="1051560"/>
          </a:xfrm>
          <a:prstGeom prst="line">
            <a:avLst/>
          </a:prstGeom>
          <a:noFill/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863840" y="3566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an author tell two stories in parallel?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11 of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TEST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40112" y="3657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40112" y="365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5778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Vocabulary (say the best answer)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860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Scarce means — (a) not easily found  (b) delicious  (c) heavy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Displaced means — (a) proud  (b) forced to leave home  (c) tired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Resilient means — (a) able to recover from difficulty  (b) angry  (c) slow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Parallel means — (a) happening at the same time  (b) far away  (c) broken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343400"/>
            <a:ext cx="5120640" cy="0"/>
          </a:xfrm>
          <a:prstGeom prst="line">
            <a:avLst/>
          </a:prstGeom>
          <a:noFill/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68580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Fill in the blank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00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Nya's family follows a strict daily __________ to fetch water.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E2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After the attack, Salva and his neighbors were __________ from their village.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Short Answer (2–3 sentences each)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Why does the teacher tell the boys to run into the bush instead of going home?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2880360"/>
            <a:ext cx="5029200" cy="0"/>
          </a:xfrm>
          <a:prstGeom prst="line">
            <a:avLst/>
          </a:prstGeom>
          <a:noFill/>
          <a:ln w="12700">
            <a:solidFill>
              <a:srgbClr val="6B615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92240" y="3246120"/>
            <a:ext cx="5029200" cy="0"/>
          </a:xfrm>
          <a:prstGeom prst="line">
            <a:avLst/>
          </a:prstGeom>
          <a:noFill/>
          <a:ln w="12700">
            <a:solidFill>
              <a:srgbClr val="6B615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649224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does Salva realize when he wakes up in the barn at the end of Chapter Two?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114800"/>
            <a:ext cx="5029200" cy="0"/>
          </a:xfrm>
          <a:prstGeom prst="line">
            <a:avLst/>
          </a:prstGeom>
          <a:noFill/>
          <a:ln w="12700">
            <a:solidFill>
              <a:srgbClr val="6B615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92240" y="4480560"/>
            <a:ext cx="5029200" cy="0"/>
          </a:xfrm>
          <a:prstGeom prst="line">
            <a:avLst/>
          </a:prstGeom>
          <a:noFill/>
          <a:ln w="12700">
            <a:solidFill>
              <a:srgbClr val="6B615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4922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Why does the author tell Nya's and Salva's stories in parallel instead of one after the other?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5349240"/>
            <a:ext cx="5029200" cy="0"/>
          </a:xfrm>
          <a:prstGeom prst="line">
            <a:avLst/>
          </a:prstGeom>
          <a:noFill/>
          <a:ln w="12700">
            <a:solidFill>
              <a:srgbClr val="6B615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492240" y="5715000"/>
            <a:ext cx="5029200" cy="0"/>
          </a:xfrm>
          <a:prstGeom prst="line">
            <a:avLst/>
          </a:prstGeom>
          <a:noFill/>
          <a:ln w="12700">
            <a:solidFill>
              <a:srgbClr val="6B615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12 of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WRAP-UP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Writing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40112" y="3657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40112" y="365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945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Nya's world and Salva's world alike, and how are they different?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2E231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880360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Nya's world and Salva's world are __________ because __________.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2E231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977640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example, __________.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2E231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074920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suggests __________.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13 of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WRAP-UP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745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E77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65960"/>
            <a:ext cx="99943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3E2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one difference between Nya's life and Salva's life using one new vocabulary word, and share one question about how their stories might connect.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1274552" cy="1965960"/>
          </a:xfrm>
          <a:prstGeom prst="roundRect">
            <a:avLst>
              <a:gd name="adj" fmla="val 4651"/>
            </a:avLst>
          </a:prstGeom>
          <a:solidFill>
            <a:srgbClr val="3E2F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89120"/>
            <a:ext cx="106344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3 (through the next Nya section)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original sentences using today's vocabulary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discussion question to next session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14 of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30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A23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E7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SESSION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 — What happens next for Nya and Salva?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3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three sentences and your discussion question.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4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Slide 15 of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1822</Words>
  <Application>Microsoft Office PowerPoint</Application>
  <PresentationFormat>와이드스크린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hyunjung cho</cp:lastModifiedBy>
  <cp:revision>3</cp:revision>
  <dcterms:created xsi:type="dcterms:W3CDTF">2026-09-15T04:59:05Z</dcterms:created>
  <dcterms:modified xsi:type="dcterms:W3CDTF">2026-09-15T06:50:41Z</dcterms:modified>
</cp:coreProperties>
</file>