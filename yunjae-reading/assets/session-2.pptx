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TextBox 1"/>
          <p:cNvSpPr txBox="1"/>
          <p:nvPr/>
        </p:nvSpPr>
        <p:spPr>
          <a:xfrm>
            <a:off x="548640" y="548640"/>
            <a:ext cx="1828800" cy="228600"/>
          </a:xfrm>
          <a:prstGeom prst="rect">
            <a:avLst/>
          </a:prstGeom>
          <a:noFill/>
        </p:spPr>
        <p:txBody>
          <a:bodyPr wrap="square">
            <a:spAutoFit/>
          </a:bodyPr>
          <a:lstStyle/>
          <a:p>
            <a:pPr algn="l"/>
            <a:r>
              <a:rPr sz="1200" b="1" i="0">
                <a:solidFill>
                  <a:srgbClr val="3E2E23"/>
                </a:solidFill>
                <a:latin typeface="Aptos"/>
              </a:rPr>
              <a:t>G 8 - 9</a:t>
            </a:r>
          </a:p>
        </p:txBody>
      </p:sp>
      <p:sp>
        <p:nvSpPr>
          <p:cNvPr id="3" name="TextBox 2"/>
          <p:cNvSpPr txBox="1"/>
          <p:nvPr/>
        </p:nvSpPr>
        <p:spPr>
          <a:xfrm>
            <a:off x="548640" y="1188720"/>
            <a:ext cx="8046720" cy="594360"/>
          </a:xfrm>
          <a:prstGeom prst="rect">
            <a:avLst/>
          </a:prstGeom>
          <a:noFill/>
        </p:spPr>
        <p:txBody>
          <a:bodyPr wrap="square">
            <a:spAutoFit/>
          </a:bodyPr>
          <a:lstStyle/>
          <a:p>
            <a:pPr algn="l"/>
            <a:r>
              <a:rPr sz="3200" b="1" i="0">
                <a:solidFill>
                  <a:srgbClr val="3E2E23"/>
                </a:solidFill>
                <a:latin typeface="Georgia"/>
              </a:rPr>
              <a:t>A Long Walk to Water</a:t>
            </a:r>
          </a:p>
        </p:txBody>
      </p:sp>
      <p:sp>
        <p:nvSpPr>
          <p:cNvPr id="4" name="TextBox 3"/>
          <p:cNvSpPr txBox="1"/>
          <p:nvPr/>
        </p:nvSpPr>
        <p:spPr>
          <a:xfrm>
            <a:off x="548640" y="1874519"/>
            <a:ext cx="8046720" cy="457200"/>
          </a:xfrm>
          <a:prstGeom prst="rect">
            <a:avLst/>
          </a:prstGeom>
          <a:noFill/>
        </p:spPr>
        <p:txBody>
          <a:bodyPr wrap="square">
            <a:spAutoFit/>
          </a:bodyPr>
          <a:lstStyle/>
          <a:p>
            <a:pPr algn="l"/>
            <a:r>
              <a:rPr sz="2300" b="0" i="0">
                <a:solidFill>
                  <a:srgbClr val="237EAB"/>
                </a:solidFill>
                <a:latin typeface="Georgia"/>
              </a:rPr>
              <a:t>Session 2 — Alone, Then Moving Forward</a:t>
            </a:r>
          </a:p>
        </p:txBody>
      </p:sp>
      <p:sp>
        <p:nvSpPr>
          <p:cNvPr id="5" name="TextBox 4"/>
          <p:cNvSpPr txBox="1"/>
          <p:nvPr/>
        </p:nvSpPr>
        <p:spPr>
          <a:xfrm>
            <a:off x="548640" y="2926080"/>
            <a:ext cx="2743200" cy="201168"/>
          </a:xfrm>
          <a:prstGeom prst="rect">
            <a:avLst/>
          </a:prstGeom>
          <a:noFill/>
        </p:spPr>
        <p:txBody>
          <a:bodyPr wrap="square">
            <a:spAutoFit/>
          </a:bodyPr>
          <a:lstStyle/>
          <a:p>
            <a:pPr algn="l"/>
            <a:r>
              <a:rPr sz="1000" b="1" i="0">
                <a:solidFill>
                  <a:srgbClr val="69635B"/>
                </a:solidFill>
                <a:latin typeface="Aptos"/>
              </a:rPr>
              <a:t>L E A R N I N G  G O A L</a:t>
            </a:r>
          </a:p>
        </p:txBody>
      </p:sp>
      <p:sp>
        <p:nvSpPr>
          <p:cNvPr id="6" name="TextBox 5"/>
          <p:cNvSpPr txBox="1"/>
          <p:nvPr/>
        </p:nvSpPr>
        <p:spPr>
          <a:xfrm>
            <a:off x="548640" y="3246120"/>
            <a:ext cx="7772400" cy="1005840"/>
          </a:xfrm>
          <a:prstGeom prst="rect">
            <a:avLst/>
          </a:prstGeom>
          <a:noFill/>
        </p:spPr>
        <p:txBody>
          <a:bodyPr wrap="square">
            <a:spAutoFit/>
          </a:bodyPr>
          <a:lstStyle/>
          <a:p>
            <a:pPr algn="l"/>
            <a:r>
              <a:rPr sz="1800" b="0" i="0">
                <a:solidFill>
                  <a:srgbClr val="2A2622"/>
                </a:solidFill>
                <a:latin typeface="Aptos"/>
              </a:rPr>
              <a:t>The student can explain how Salva responds to being left alone, compare Nya’s daily burden with Salva’s journey, and use at least two new vocabulary words.</a:t>
            </a:r>
          </a:p>
        </p:txBody>
      </p:sp>
      <p:sp>
        <p:nvSpPr>
          <p:cNvPr id="7" name="TextBox 6"/>
          <p:cNvSpPr txBox="1"/>
          <p:nvPr/>
        </p:nvSpPr>
        <p:spPr>
          <a:xfrm>
            <a:off x="548640" y="5989320"/>
            <a:ext cx="5486400" cy="228600"/>
          </a:xfrm>
          <a:prstGeom prst="rect">
            <a:avLst/>
          </a:prstGeom>
          <a:noFill/>
        </p:spPr>
        <p:txBody>
          <a:bodyPr wrap="square">
            <a:spAutoFit/>
          </a:bodyPr>
          <a:lstStyle/>
          <a:p>
            <a:pPr algn="l"/>
            <a:r>
              <a:rPr sz="1100" b="0" i="0">
                <a:solidFill>
                  <a:srgbClr val="69635B"/>
                </a:solidFill>
                <a:latin typeface="Aptos"/>
              </a:rPr>
              <a:t>Session Date: ____________________ · Chapters 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RECAP</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Two Timelines, New Pressure</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2 of 15</a:t>
            </a:r>
          </a:p>
        </p:txBody>
      </p:sp>
      <p:sp>
        <p:nvSpPr>
          <p:cNvPr id="7" name="Rounded Rectangle 6"/>
          <p:cNvSpPr/>
          <p:nvPr/>
        </p:nvSpPr>
        <p:spPr>
          <a:xfrm>
            <a:off x="502920" y="1737360"/>
            <a:ext cx="8138160" cy="3566160"/>
          </a:xfrm>
          <a:prstGeom prst="roundRect">
            <a:avLst/>
          </a:prstGeom>
          <a:solidFill>
            <a:srgbClr val="FFFFFF"/>
          </a:solidFill>
          <a:ln>
            <a:solidFill>
              <a:srgbClr val="E2DA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057400"/>
            <a:ext cx="868680" cy="86868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58568"/>
            <a:ext cx="777240" cy="228600"/>
          </a:xfrm>
          <a:prstGeom prst="rect">
            <a:avLst/>
          </a:prstGeom>
          <a:noFill/>
        </p:spPr>
        <p:txBody>
          <a:bodyPr wrap="square">
            <a:spAutoFit/>
          </a:bodyPr>
          <a:lstStyle/>
          <a:p>
            <a:pPr algn="ctr"/>
            <a:r>
              <a:rPr sz="1300" b="1" i="0">
                <a:solidFill>
                  <a:srgbClr val="FFFFFF"/>
                </a:solidFill>
                <a:latin typeface="Aptos"/>
              </a:rPr>
              <a:t>2008</a:t>
            </a:r>
          </a:p>
        </p:txBody>
      </p:sp>
      <p:sp>
        <p:nvSpPr>
          <p:cNvPr id="10" name="TextBox 9"/>
          <p:cNvSpPr txBox="1"/>
          <p:nvPr/>
        </p:nvSpPr>
        <p:spPr>
          <a:xfrm>
            <a:off x="1874519" y="2057400"/>
            <a:ext cx="914400" cy="274320"/>
          </a:xfrm>
          <a:prstGeom prst="rect">
            <a:avLst/>
          </a:prstGeom>
          <a:noFill/>
        </p:spPr>
        <p:txBody>
          <a:bodyPr wrap="square">
            <a:spAutoFit/>
          </a:bodyPr>
          <a:lstStyle/>
          <a:p>
            <a:pPr algn="l"/>
            <a:r>
              <a:rPr sz="1400" b="1" i="0">
                <a:solidFill>
                  <a:srgbClr val="3E2E23"/>
                </a:solidFill>
                <a:latin typeface="Aptos"/>
              </a:rPr>
              <a:t>NYA</a:t>
            </a:r>
          </a:p>
        </p:txBody>
      </p:sp>
      <p:sp>
        <p:nvSpPr>
          <p:cNvPr id="11" name="TextBox 10"/>
          <p:cNvSpPr txBox="1"/>
          <p:nvPr/>
        </p:nvSpPr>
        <p:spPr>
          <a:xfrm>
            <a:off x="2788920" y="2057400"/>
            <a:ext cx="5303520" cy="731520"/>
          </a:xfrm>
          <a:prstGeom prst="rect">
            <a:avLst/>
          </a:prstGeom>
          <a:noFill/>
        </p:spPr>
        <p:txBody>
          <a:bodyPr wrap="square">
            <a:spAutoFit/>
          </a:bodyPr>
          <a:lstStyle/>
          <a:p>
            <a:pPr algn="l"/>
            <a:r>
              <a:rPr sz="1600" b="0" i="0">
                <a:solidFill>
                  <a:srgbClr val="2A2622"/>
                </a:solidFill>
                <a:latin typeface="Aptos"/>
              </a:rPr>
              <a:t>Reaches the muddy pond, carries water home, then begins a second trip.</a:t>
            </a:r>
          </a:p>
        </p:txBody>
      </p:sp>
      <p:sp>
        <p:nvSpPr>
          <p:cNvPr id="12" name="Rounded Rectangle 11"/>
          <p:cNvSpPr/>
          <p:nvPr/>
        </p:nvSpPr>
        <p:spPr>
          <a:xfrm>
            <a:off x="777240" y="3566160"/>
            <a:ext cx="868680" cy="86868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767328"/>
            <a:ext cx="777240" cy="228600"/>
          </a:xfrm>
          <a:prstGeom prst="rect">
            <a:avLst/>
          </a:prstGeom>
          <a:noFill/>
        </p:spPr>
        <p:txBody>
          <a:bodyPr wrap="square">
            <a:spAutoFit/>
          </a:bodyPr>
          <a:lstStyle/>
          <a:p>
            <a:pPr algn="ctr"/>
            <a:r>
              <a:rPr sz="1300" b="1" i="0">
                <a:solidFill>
                  <a:srgbClr val="FFFFFF"/>
                </a:solidFill>
                <a:latin typeface="Aptos"/>
              </a:rPr>
              <a:t>1985</a:t>
            </a:r>
          </a:p>
        </p:txBody>
      </p:sp>
      <p:sp>
        <p:nvSpPr>
          <p:cNvPr id="14" name="TextBox 13"/>
          <p:cNvSpPr txBox="1"/>
          <p:nvPr/>
        </p:nvSpPr>
        <p:spPr>
          <a:xfrm>
            <a:off x="1874519" y="3566160"/>
            <a:ext cx="914400" cy="274320"/>
          </a:xfrm>
          <a:prstGeom prst="rect">
            <a:avLst/>
          </a:prstGeom>
          <a:noFill/>
        </p:spPr>
        <p:txBody>
          <a:bodyPr wrap="square">
            <a:spAutoFit/>
          </a:bodyPr>
          <a:lstStyle/>
          <a:p>
            <a:pPr algn="l"/>
            <a:r>
              <a:rPr sz="1400" b="1" i="0">
                <a:solidFill>
                  <a:srgbClr val="3E2E23"/>
                </a:solidFill>
                <a:latin typeface="Aptos"/>
              </a:rPr>
              <a:t>SALVA</a:t>
            </a:r>
          </a:p>
        </p:txBody>
      </p:sp>
      <p:sp>
        <p:nvSpPr>
          <p:cNvPr id="15" name="TextBox 14"/>
          <p:cNvSpPr txBox="1"/>
          <p:nvPr/>
        </p:nvSpPr>
        <p:spPr>
          <a:xfrm>
            <a:off x="2788920" y="3566160"/>
            <a:ext cx="5303520" cy="731520"/>
          </a:xfrm>
          <a:prstGeom prst="rect">
            <a:avLst/>
          </a:prstGeom>
          <a:noFill/>
        </p:spPr>
        <p:txBody>
          <a:bodyPr wrap="square">
            <a:spAutoFit/>
          </a:bodyPr>
          <a:lstStyle/>
          <a:p>
            <a:pPr algn="l"/>
            <a:r>
              <a:rPr sz="1600" b="0" i="0">
                <a:solidFill>
                  <a:srgbClr val="2A2622"/>
                </a:solidFill>
                <a:latin typeface="Aptos"/>
              </a:rPr>
              <a:t>Wakes alone, receives brief help, then joins a new group of travelers.</a:t>
            </a:r>
          </a:p>
        </p:txBody>
      </p:sp>
      <p:sp>
        <p:nvSpPr>
          <p:cNvPr id="16" name="TextBox 15"/>
          <p:cNvSpPr txBox="1"/>
          <p:nvPr/>
        </p:nvSpPr>
        <p:spPr>
          <a:xfrm>
            <a:off x="777240" y="4709160"/>
            <a:ext cx="7132320" cy="274320"/>
          </a:xfrm>
          <a:prstGeom prst="rect">
            <a:avLst/>
          </a:prstGeom>
          <a:noFill/>
        </p:spPr>
        <p:txBody>
          <a:bodyPr wrap="square">
            <a:spAutoFit/>
          </a:bodyPr>
          <a:lstStyle/>
          <a:p>
            <a:pPr algn="l"/>
            <a:r>
              <a:rPr sz="1300" b="1" i="0">
                <a:solidFill>
                  <a:srgbClr val="237EAB"/>
                </a:solidFill>
                <a:latin typeface="Aptos"/>
              </a:rPr>
              <a:t>Focus: survival becomes a routine for both characters—but in very different ways.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ROADMAP</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Today's Session, Start to Finish</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3 of 15</a:t>
            </a:r>
          </a:p>
        </p:txBody>
      </p:sp>
      <p:sp>
        <p:nvSpPr>
          <p:cNvPr id="7" name="Rounded Rectangle 6"/>
          <p:cNvSpPr/>
          <p:nvPr/>
        </p:nvSpPr>
        <p:spPr>
          <a:xfrm>
            <a:off x="594360" y="1783080"/>
            <a:ext cx="502920" cy="50292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01952"/>
            <a:ext cx="502920" cy="182880"/>
          </a:xfrm>
          <a:prstGeom prst="rect">
            <a:avLst/>
          </a:prstGeom>
          <a:noFill/>
        </p:spPr>
        <p:txBody>
          <a:bodyPr wrap="square">
            <a:spAutoFit/>
          </a:bodyPr>
          <a:lstStyle/>
          <a:p>
            <a:pPr algn="ctr"/>
            <a:r>
              <a:rPr sz="1200" b="1" i="0">
                <a:solidFill>
                  <a:srgbClr val="FFFFFF"/>
                </a:solidFill>
                <a:latin typeface="Aptos"/>
              </a:rPr>
              <a:t>1</a:t>
            </a:r>
          </a:p>
        </p:txBody>
      </p:sp>
      <p:sp>
        <p:nvSpPr>
          <p:cNvPr id="9" name="TextBox 8"/>
          <p:cNvSpPr txBox="1"/>
          <p:nvPr/>
        </p:nvSpPr>
        <p:spPr>
          <a:xfrm>
            <a:off x="1252728" y="1783080"/>
            <a:ext cx="1737360" cy="182880"/>
          </a:xfrm>
          <a:prstGeom prst="rect">
            <a:avLst/>
          </a:prstGeom>
          <a:noFill/>
        </p:spPr>
        <p:txBody>
          <a:bodyPr wrap="square">
            <a:spAutoFit/>
          </a:bodyPr>
          <a:lstStyle/>
          <a:p>
            <a:pPr algn="l"/>
            <a:r>
              <a:rPr sz="900" b="0" i="0">
                <a:solidFill>
                  <a:srgbClr val="69635B"/>
                </a:solidFill>
                <a:latin typeface="Aptos"/>
              </a:rPr>
              <a:t>~5 min</a:t>
            </a:r>
          </a:p>
        </p:txBody>
      </p:sp>
      <p:sp>
        <p:nvSpPr>
          <p:cNvPr id="10" name="TextBox 9"/>
          <p:cNvSpPr txBox="1"/>
          <p:nvPr/>
        </p:nvSpPr>
        <p:spPr>
          <a:xfrm>
            <a:off x="1252728" y="2039112"/>
            <a:ext cx="1737360" cy="256032"/>
          </a:xfrm>
          <a:prstGeom prst="rect">
            <a:avLst/>
          </a:prstGeom>
          <a:noFill/>
        </p:spPr>
        <p:txBody>
          <a:bodyPr wrap="square">
            <a:spAutoFit/>
          </a:bodyPr>
          <a:lstStyle/>
          <a:p>
            <a:pPr algn="l"/>
            <a:r>
              <a:rPr sz="1400" b="1" i="0">
                <a:solidFill>
                  <a:srgbClr val="3E2E23"/>
                </a:solidFill>
                <a:latin typeface="Aptos"/>
              </a:rPr>
              <a:t>Warm-Up</a:t>
            </a:r>
          </a:p>
        </p:txBody>
      </p:sp>
      <p:sp>
        <p:nvSpPr>
          <p:cNvPr id="11" name="TextBox 10"/>
          <p:cNvSpPr txBox="1"/>
          <p:nvPr/>
        </p:nvSpPr>
        <p:spPr>
          <a:xfrm>
            <a:off x="1252728" y="2350008"/>
            <a:ext cx="1737360" cy="640080"/>
          </a:xfrm>
          <a:prstGeom prst="rect">
            <a:avLst/>
          </a:prstGeom>
          <a:noFill/>
        </p:spPr>
        <p:txBody>
          <a:bodyPr wrap="square">
            <a:spAutoFit/>
          </a:bodyPr>
          <a:lstStyle/>
          <a:p>
            <a:pPr algn="l"/>
            <a:r>
              <a:rPr sz="1100" b="0" i="0">
                <a:solidFill>
                  <a:srgbClr val="2A2622"/>
                </a:solidFill>
                <a:latin typeface="Aptos"/>
              </a:rPr>
              <a:t>What does it mean to be left behind?</a:t>
            </a:r>
          </a:p>
        </p:txBody>
      </p:sp>
      <p:sp>
        <p:nvSpPr>
          <p:cNvPr id="12" name="Rounded Rectangle 11"/>
          <p:cNvSpPr/>
          <p:nvPr/>
        </p:nvSpPr>
        <p:spPr>
          <a:xfrm>
            <a:off x="3337560" y="1783080"/>
            <a:ext cx="502920" cy="50292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1901952"/>
            <a:ext cx="502920" cy="182880"/>
          </a:xfrm>
          <a:prstGeom prst="rect">
            <a:avLst/>
          </a:prstGeom>
          <a:noFill/>
        </p:spPr>
        <p:txBody>
          <a:bodyPr wrap="square">
            <a:spAutoFit/>
          </a:bodyPr>
          <a:lstStyle/>
          <a:p>
            <a:pPr algn="ctr"/>
            <a:r>
              <a:rPr sz="1200" b="1" i="0">
                <a:solidFill>
                  <a:srgbClr val="FFFFFF"/>
                </a:solidFill>
                <a:latin typeface="Aptos"/>
              </a:rPr>
              <a:t>2</a:t>
            </a:r>
          </a:p>
        </p:txBody>
      </p:sp>
      <p:sp>
        <p:nvSpPr>
          <p:cNvPr id="14" name="TextBox 13"/>
          <p:cNvSpPr txBox="1"/>
          <p:nvPr/>
        </p:nvSpPr>
        <p:spPr>
          <a:xfrm>
            <a:off x="3995928" y="1783080"/>
            <a:ext cx="1737360" cy="182880"/>
          </a:xfrm>
          <a:prstGeom prst="rect">
            <a:avLst/>
          </a:prstGeom>
          <a:noFill/>
        </p:spPr>
        <p:txBody>
          <a:bodyPr wrap="square">
            <a:spAutoFit/>
          </a:bodyPr>
          <a:lstStyle/>
          <a:p>
            <a:pPr algn="l"/>
            <a:r>
              <a:rPr sz="900" b="0" i="0">
                <a:solidFill>
                  <a:srgbClr val="69635B"/>
                </a:solidFill>
                <a:latin typeface="Aptos"/>
              </a:rPr>
              <a:t>~15 min</a:t>
            </a:r>
          </a:p>
        </p:txBody>
      </p:sp>
      <p:sp>
        <p:nvSpPr>
          <p:cNvPr id="15" name="TextBox 14"/>
          <p:cNvSpPr txBox="1"/>
          <p:nvPr/>
        </p:nvSpPr>
        <p:spPr>
          <a:xfrm>
            <a:off x="3995928" y="2039112"/>
            <a:ext cx="1737360" cy="256032"/>
          </a:xfrm>
          <a:prstGeom prst="rect">
            <a:avLst/>
          </a:prstGeom>
          <a:noFill/>
        </p:spPr>
        <p:txBody>
          <a:bodyPr wrap="square">
            <a:spAutoFit/>
          </a:bodyPr>
          <a:lstStyle/>
          <a:p>
            <a:pPr algn="l"/>
            <a:r>
              <a:rPr sz="1400" b="1" i="0">
                <a:solidFill>
                  <a:srgbClr val="3E2E23"/>
                </a:solidFill>
                <a:latin typeface="Aptos"/>
              </a:rPr>
              <a:t>Read</a:t>
            </a:r>
          </a:p>
        </p:txBody>
      </p:sp>
      <p:sp>
        <p:nvSpPr>
          <p:cNvPr id="16" name="TextBox 15"/>
          <p:cNvSpPr txBox="1"/>
          <p:nvPr/>
        </p:nvSpPr>
        <p:spPr>
          <a:xfrm>
            <a:off x="3995928" y="2350008"/>
            <a:ext cx="1737360" cy="640080"/>
          </a:xfrm>
          <a:prstGeom prst="rect">
            <a:avLst/>
          </a:prstGeom>
          <a:noFill/>
        </p:spPr>
        <p:txBody>
          <a:bodyPr wrap="square">
            <a:spAutoFit/>
          </a:bodyPr>
          <a:lstStyle/>
          <a:p>
            <a:pPr algn="l"/>
            <a:r>
              <a:rPr sz="1100" b="0" i="0">
                <a:solidFill>
                  <a:srgbClr val="2A2622"/>
                </a:solidFill>
                <a:latin typeface="Aptos"/>
              </a:rPr>
              <a:t>Four key passages from Chapters 3–4.</a:t>
            </a:r>
          </a:p>
        </p:txBody>
      </p:sp>
      <p:sp>
        <p:nvSpPr>
          <p:cNvPr id="17" name="Rounded Rectangle 16"/>
          <p:cNvSpPr/>
          <p:nvPr/>
        </p:nvSpPr>
        <p:spPr>
          <a:xfrm>
            <a:off x="6080760" y="1783080"/>
            <a:ext cx="502920" cy="50292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0" y="1901952"/>
            <a:ext cx="502920" cy="182880"/>
          </a:xfrm>
          <a:prstGeom prst="rect">
            <a:avLst/>
          </a:prstGeom>
          <a:noFill/>
        </p:spPr>
        <p:txBody>
          <a:bodyPr wrap="square">
            <a:spAutoFit/>
          </a:bodyPr>
          <a:lstStyle/>
          <a:p>
            <a:pPr algn="ctr"/>
            <a:r>
              <a:rPr sz="1200" b="1" i="0">
                <a:solidFill>
                  <a:srgbClr val="FFFFFF"/>
                </a:solidFill>
                <a:latin typeface="Aptos"/>
              </a:rPr>
              <a:t>3</a:t>
            </a:r>
          </a:p>
        </p:txBody>
      </p:sp>
      <p:sp>
        <p:nvSpPr>
          <p:cNvPr id="19" name="TextBox 18"/>
          <p:cNvSpPr txBox="1"/>
          <p:nvPr/>
        </p:nvSpPr>
        <p:spPr>
          <a:xfrm>
            <a:off x="6739128" y="1783080"/>
            <a:ext cx="1737360" cy="182880"/>
          </a:xfrm>
          <a:prstGeom prst="rect">
            <a:avLst/>
          </a:prstGeom>
          <a:noFill/>
        </p:spPr>
        <p:txBody>
          <a:bodyPr wrap="square">
            <a:spAutoFit/>
          </a:bodyPr>
          <a:lstStyle/>
          <a:p>
            <a:pPr algn="l"/>
            <a:r>
              <a:rPr sz="900" b="0" i="0">
                <a:solidFill>
                  <a:srgbClr val="69635B"/>
                </a:solidFill>
                <a:latin typeface="Aptos"/>
              </a:rPr>
              <a:t>~10 min</a:t>
            </a:r>
          </a:p>
        </p:txBody>
      </p:sp>
      <p:sp>
        <p:nvSpPr>
          <p:cNvPr id="20" name="TextBox 19"/>
          <p:cNvSpPr txBox="1"/>
          <p:nvPr/>
        </p:nvSpPr>
        <p:spPr>
          <a:xfrm>
            <a:off x="6739128" y="2039112"/>
            <a:ext cx="1737360" cy="256032"/>
          </a:xfrm>
          <a:prstGeom prst="rect">
            <a:avLst/>
          </a:prstGeom>
          <a:noFill/>
        </p:spPr>
        <p:txBody>
          <a:bodyPr wrap="square">
            <a:spAutoFit/>
          </a:bodyPr>
          <a:lstStyle/>
          <a:p>
            <a:pPr algn="l"/>
            <a:r>
              <a:rPr sz="1400" b="1" i="0">
                <a:solidFill>
                  <a:srgbClr val="3E2E23"/>
                </a:solidFill>
                <a:latin typeface="Aptos"/>
              </a:rPr>
              <a:t>Solve</a:t>
            </a:r>
          </a:p>
        </p:txBody>
      </p:sp>
      <p:sp>
        <p:nvSpPr>
          <p:cNvPr id="21" name="TextBox 20"/>
          <p:cNvSpPr txBox="1"/>
          <p:nvPr/>
        </p:nvSpPr>
        <p:spPr>
          <a:xfrm>
            <a:off x="6739128" y="2350008"/>
            <a:ext cx="1737360" cy="640080"/>
          </a:xfrm>
          <a:prstGeom prst="rect">
            <a:avLst/>
          </a:prstGeom>
          <a:noFill/>
        </p:spPr>
        <p:txBody>
          <a:bodyPr wrap="square">
            <a:spAutoFit/>
          </a:bodyPr>
          <a:lstStyle/>
          <a:p>
            <a:pPr algn="l"/>
            <a:r>
              <a:rPr sz="1100" b="0" i="0">
                <a:solidFill>
                  <a:srgbClr val="2A2622"/>
                </a:solidFill>
                <a:latin typeface="Aptos"/>
              </a:rPr>
              <a:t>Discuss choices, identity, and survival.</a:t>
            </a:r>
          </a:p>
        </p:txBody>
      </p:sp>
      <p:sp>
        <p:nvSpPr>
          <p:cNvPr id="22" name="Rounded Rectangle 21"/>
          <p:cNvSpPr/>
          <p:nvPr/>
        </p:nvSpPr>
        <p:spPr>
          <a:xfrm>
            <a:off x="594360" y="3703320"/>
            <a:ext cx="502920" cy="50292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822191"/>
            <a:ext cx="502920" cy="182880"/>
          </a:xfrm>
          <a:prstGeom prst="rect">
            <a:avLst/>
          </a:prstGeom>
          <a:noFill/>
        </p:spPr>
        <p:txBody>
          <a:bodyPr wrap="square">
            <a:spAutoFit/>
          </a:bodyPr>
          <a:lstStyle/>
          <a:p>
            <a:pPr algn="ctr"/>
            <a:r>
              <a:rPr sz="1200" b="1" i="0">
                <a:solidFill>
                  <a:srgbClr val="FFFFFF"/>
                </a:solidFill>
                <a:latin typeface="Aptos"/>
              </a:rPr>
              <a:t>4</a:t>
            </a:r>
          </a:p>
        </p:txBody>
      </p:sp>
      <p:sp>
        <p:nvSpPr>
          <p:cNvPr id="24" name="TextBox 23"/>
          <p:cNvSpPr txBox="1"/>
          <p:nvPr/>
        </p:nvSpPr>
        <p:spPr>
          <a:xfrm>
            <a:off x="1252728" y="3703320"/>
            <a:ext cx="1737360" cy="182880"/>
          </a:xfrm>
          <a:prstGeom prst="rect">
            <a:avLst/>
          </a:prstGeom>
          <a:noFill/>
        </p:spPr>
        <p:txBody>
          <a:bodyPr wrap="square">
            <a:spAutoFit/>
          </a:bodyPr>
          <a:lstStyle/>
          <a:p>
            <a:pPr algn="l"/>
            <a:r>
              <a:rPr sz="900" b="0" i="0">
                <a:solidFill>
                  <a:srgbClr val="69635B"/>
                </a:solidFill>
                <a:latin typeface="Aptos"/>
              </a:rPr>
              <a:t>~10 min</a:t>
            </a:r>
          </a:p>
        </p:txBody>
      </p:sp>
      <p:sp>
        <p:nvSpPr>
          <p:cNvPr id="25" name="TextBox 24"/>
          <p:cNvSpPr txBox="1"/>
          <p:nvPr/>
        </p:nvSpPr>
        <p:spPr>
          <a:xfrm>
            <a:off x="1252728" y="3959352"/>
            <a:ext cx="1737360" cy="256032"/>
          </a:xfrm>
          <a:prstGeom prst="rect">
            <a:avLst/>
          </a:prstGeom>
          <a:noFill/>
        </p:spPr>
        <p:txBody>
          <a:bodyPr wrap="square">
            <a:spAutoFit/>
          </a:bodyPr>
          <a:lstStyle/>
          <a:p>
            <a:pPr algn="l"/>
            <a:r>
              <a:rPr sz="1400" b="1" i="0">
                <a:solidFill>
                  <a:srgbClr val="3E2E23"/>
                </a:solidFill>
                <a:latin typeface="Aptos"/>
              </a:rPr>
              <a:t>Memorize</a:t>
            </a:r>
          </a:p>
        </p:txBody>
      </p:sp>
      <p:sp>
        <p:nvSpPr>
          <p:cNvPr id="26" name="TextBox 25"/>
          <p:cNvSpPr txBox="1"/>
          <p:nvPr/>
        </p:nvSpPr>
        <p:spPr>
          <a:xfrm>
            <a:off x="1252728" y="4270248"/>
            <a:ext cx="1737360" cy="640080"/>
          </a:xfrm>
          <a:prstGeom prst="rect">
            <a:avLst/>
          </a:prstGeom>
          <a:noFill/>
        </p:spPr>
        <p:txBody>
          <a:bodyPr wrap="square">
            <a:spAutoFit/>
          </a:bodyPr>
          <a:lstStyle/>
          <a:p>
            <a:pPr algn="l"/>
            <a:r>
              <a:rPr sz="1100" b="0" i="0">
                <a:solidFill>
                  <a:srgbClr val="2A2622"/>
                </a:solidFill>
                <a:latin typeface="Aptos"/>
              </a:rPr>
              <a:t>Learn five high-value vocabulary words.</a:t>
            </a:r>
          </a:p>
        </p:txBody>
      </p:sp>
      <p:sp>
        <p:nvSpPr>
          <p:cNvPr id="27" name="Rounded Rectangle 26"/>
          <p:cNvSpPr/>
          <p:nvPr/>
        </p:nvSpPr>
        <p:spPr>
          <a:xfrm>
            <a:off x="3337560" y="3703320"/>
            <a:ext cx="502920" cy="50292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37560" y="3822191"/>
            <a:ext cx="502920" cy="182880"/>
          </a:xfrm>
          <a:prstGeom prst="rect">
            <a:avLst/>
          </a:prstGeom>
          <a:noFill/>
        </p:spPr>
        <p:txBody>
          <a:bodyPr wrap="square">
            <a:spAutoFit/>
          </a:bodyPr>
          <a:lstStyle/>
          <a:p>
            <a:pPr algn="ctr"/>
            <a:r>
              <a:rPr sz="1200" b="1" i="0">
                <a:solidFill>
                  <a:srgbClr val="FFFFFF"/>
                </a:solidFill>
                <a:latin typeface="Aptos"/>
              </a:rPr>
              <a:t>5</a:t>
            </a:r>
          </a:p>
        </p:txBody>
      </p:sp>
      <p:sp>
        <p:nvSpPr>
          <p:cNvPr id="29" name="TextBox 28"/>
          <p:cNvSpPr txBox="1"/>
          <p:nvPr/>
        </p:nvSpPr>
        <p:spPr>
          <a:xfrm>
            <a:off x="3995928" y="3703320"/>
            <a:ext cx="1737360" cy="182880"/>
          </a:xfrm>
          <a:prstGeom prst="rect">
            <a:avLst/>
          </a:prstGeom>
          <a:noFill/>
        </p:spPr>
        <p:txBody>
          <a:bodyPr wrap="square">
            <a:spAutoFit/>
          </a:bodyPr>
          <a:lstStyle/>
          <a:p>
            <a:pPr algn="l"/>
            <a:r>
              <a:rPr sz="900" b="0" i="0">
                <a:solidFill>
                  <a:srgbClr val="69635B"/>
                </a:solidFill>
                <a:latin typeface="Aptos"/>
              </a:rPr>
              <a:t>~10 min</a:t>
            </a:r>
          </a:p>
        </p:txBody>
      </p:sp>
      <p:sp>
        <p:nvSpPr>
          <p:cNvPr id="30" name="TextBox 29"/>
          <p:cNvSpPr txBox="1"/>
          <p:nvPr/>
        </p:nvSpPr>
        <p:spPr>
          <a:xfrm>
            <a:off x="3995928" y="3959352"/>
            <a:ext cx="1737360" cy="256032"/>
          </a:xfrm>
          <a:prstGeom prst="rect">
            <a:avLst/>
          </a:prstGeom>
          <a:noFill/>
        </p:spPr>
        <p:txBody>
          <a:bodyPr wrap="square">
            <a:spAutoFit/>
          </a:bodyPr>
          <a:lstStyle/>
          <a:p>
            <a:pPr algn="l"/>
            <a:r>
              <a:rPr sz="1400" b="1" i="0">
                <a:solidFill>
                  <a:srgbClr val="3E2E23"/>
                </a:solidFill>
                <a:latin typeface="Aptos"/>
              </a:rPr>
              <a:t>Test</a:t>
            </a:r>
          </a:p>
        </p:txBody>
      </p:sp>
      <p:sp>
        <p:nvSpPr>
          <p:cNvPr id="31" name="TextBox 30"/>
          <p:cNvSpPr txBox="1"/>
          <p:nvPr/>
        </p:nvSpPr>
        <p:spPr>
          <a:xfrm>
            <a:off x="3995928" y="4270248"/>
            <a:ext cx="1737360" cy="640080"/>
          </a:xfrm>
          <a:prstGeom prst="rect">
            <a:avLst/>
          </a:prstGeom>
          <a:noFill/>
        </p:spPr>
        <p:txBody>
          <a:bodyPr wrap="square">
            <a:spAutoFit/>
          </a:bodyPr>
          <a:lstStyle/>
          <a:p>
            <a:pPr algn="l"/>
            <a:r>
              <a:rPr sz="1100" b="0" i="0">
                <a:solidFill>
                  <a:srgbClr val="2A2622"/>
                </a:solidFill>
                <a:latin typeface="Aptos"/>
              </a:rPr>
              <a:t>Vocabulary + comprehension check.</a:t>
            </a:r>
          </a:p>
        </p:txBody>
      </p:sp>
      <p:sp>
        <p:nvSpPr>
          <p:cNvPr id="32" name="Rounded Rectangle 31"/>
          <p:cNvSpPr/>
          <p:nvPr/>
        </p:nvSpPr>
        <p:spPr>
          <a:xfrm>
            <a:off x="6080760" y="3703320"/>
            <a:ext cx="502920" cy="50292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80760" y="3822191"/>
            <a:ext cx="502920" cy="182880"/>
          </a:xfrm>
          <a:prstGeom prst="rect">
            <a:avLst/>
          </a:prstGeom>
          <a:noFill/>
        </p:spPr>
        <p:txBody>
          <a:bodyPr wrap="square">
            <a:spAutoFit/>
          </a:bodyPr>
          <a:lstStyle/>
          <a:p>
            <a:pPr algn="ctr"/>
            <a:r>
              <a:rPr sz="1200" b="1" i="0">
                <a:solidFill>
                  <a:srgbClr val="FFFFFF"/>
                </a:solidFill>
                <a:latin typeface="Aptos"/>
              </a:rPr>
              <a:t>6</a:t>
            </a:r>
          </a:p>
        </p:txBody>
      </p:sp>
      <p:sp>
        <p:nvSpPr>
          <p:cNvPr id="34" name="TextBox 33"/>
          <p:cNvSpPr txBox="1"/>
          <p:nvPr/>
        </p:nvSpPr>
        <p:spPr>
          <a:xfrm>
            <a:off x="6739128" y="3703320"/>
            <a:ext cx="1737360" cy="182880"/>
          </a:xfrm>
          <a:prstGeom prst="rect">
            <a:avLst/>
          </a:prstGeom>
          <a:noFill/>
        </p:spPr>
        <p:txBody>
          <a:bodyPr wrap="square">
            <a:spAutoFit/>
          </a:bodyPr>
          <a:lstStyle/>
          <a:p>
            <a:pPr algn="l"/>
            <a:r>
              <a:rPr sz="900" b="0" i="0">
                <a:solidFill>
                  <a:srgbClr val="69635B"/>
                </a:solidFill>
                <a:latin typeface="Aptos"/>
              </a:rPr>
              <a:t>~5 min</a:t>
            </a:r>
          </a:p>
        </p:txBody>
      </p:sp>
      <p:sp>
        <p:nvSpPr>
          <p:cNvPr id="35" name="TextBox 34"/>
          <p:cNvSpPr txBox="1"/>
          <p:nvPr/>
        </p:nvSpPr>
        <p:spPr>
          <a:xfrm>
            <a:off x="6739128" y="3959352"/>
            <a:ext cx="1737360" cy="256032"/>
          </a:xfrm>
          <a:prstGeom prst="rect">
            <a:avLst/>
          </a:prstGeom>
          <a:noFill/>
        </p:spPr>
        <p:txBody>
          <a:bodyPr wrap="square">
            <a:spAutoFit/>
          </a:bodyPr>
          <a:lstStyle/>
          <a:p>
            <a:pPr algn="l"/>
            <a:r>
              <a:rPr sz="1400" b="1" i="0">
                <a:solidFill>
                  <a:srgbClr val="3E2E23"/>
                </a:solidFill>
                <a:latin typeface="Aptos"/>
              </a:rPr>
              <a:t>Wrap-Up</a:t>
            </a:r>
          </a:p>
        </p:txBody>
      </p:sp>
      <p:sp>
        <p:nvSpPr>
          <p:cNvPr id="36" name="TextBox 35"/>
          <p:cNvSpPr txBox="1"/>
          <p:nvPr/>
        </p:nvSpPr>
        <p:spPr>
          <a:xfrm>
            <a:off x="6739128" y="4270248"/>
            <a:ext cx="1737360" cy="640080"/>
          </a:xfrm>
          <a:prstGeom prst="rect">
            <a:avLst/>
          </a:prstGeom>
          <a:noFill/>
        </p:spPr>
        <p:txBody>
          <a:bodyPr wrap="square">
            <a:spAutoFit/>
          </a:bodyPr>
          <a:lstStyle/>
          <a:p>
            <a:pPr algn="l"/>
            <a:r>
              <a:rPr sz="1100" b="0" i="0">
                <a:solidFill>
                  <a:srgbClr val="2A2622"/>
                </a:solidFill>
                <a:latin typeface="Aptos"/>
              </a:rPr>
              <a:t>Short writing and exit ticket.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1 · WARM-UP</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Opening Conversation</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4 of 15</a:t>
            </a:r>
          </a:p>
        </p:txBody>
      </p:sp>
      <p:sp>
        <p:nvSpPr>
          <p:cNvPr id="7" name="TextBox 6"/>
          <p:cNvSpPr txBox="1"/>
          <p:nvPr/>
        </p:nvSpPr>
        <p:spPr>
          <a:xfrm>
            <a:off x="594360" y="1737360"/>
            <a:ext cx="1097280" cy="182880"/>
          </a:xfrm>
          <a:prstGeom prst="rect">
            <a:avLst/>
          </a:prstGeom>
          <a:noFill/>
        </p:spPr>
        <p:txBody>
          <a:bodyPr wrap="square">
            <a:spAutoFit/>
          </a:bodyPr>
          <a:lstStyle/>
          <a:p>
            <a:pPr algn="l"/>
            <a:r>
              <a:rPr sz="1000" b="1" i="0">
                <a:solidFill>
                  <a:srgbClr val="69635B"/>
                </a:solidFill>
                <a:latin typeface="Aptos"/>
              </a:rPr>
              <a:t>~5 min</a:t>
            </a:r>
          </a:p>
        </p:txBody>
      </p:sp>
      <p:sp>
        <p:nvSpPr>
          <p:cNvPr id="8" name="Rounded Rectangle 7"/>
          <p:cNvSpPr/>
          <p:nvPr/>
        </p:nvSpPr>
        <p:spPr>
          <a:xfrm>
            <a:off x="594360" y="2103120"/>
            <a:ext cx="7772400" cy="1417320"/>
          </a:xfrm>
          <a:prstGeom prst="roundRect">
            <a:avLst/>
          </a:prstGeom>
          <a:solidFill>
            <a:srgbClr val="FFFFFF"/>
          </a:solidFill>
          <a:ln>
            <a:solidFill>
              <a:srgbClr val="E1D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331720"/>
            <a:ext cx="7223760" cy="685800"/>
          </a:xfrm>
          <a:prstGeom prst="rect">
            <a:avLst/>
          </a:prstGeom>
          <a:noFill/>
        </p:spPr>
        <p:txBody>
          <a:bodyPr wrap="square">
            <a:spAutoFit/>
          </a:bodyPr>
          <a:lstStyle/>
          <a:p>
            <a:pPr algn="l"/>
            <a:r>
              <a:rPr sz="2200" b="1" i="0">
                <a:solidFill>
                  <a:srgbClr val="3E2E23"/>
                </a:solidFill>
                <a:latin typeface="Georgia"/>
              </a:rPr>
              <a:t>“If a group thought you might slow them down, what could you do to prove that you belong?”</a:t>
            </a:r>
          </a:p>
        </p:txBody>
      </p:sp>
      <p:sp>
        <p:nvSpPr>
          <p:cNvPr id="10" name="TextBox 9"/>
          <p:cNvSpPr txBox="1"/>
          <p:nvPr/>
        </p:nvSpPr>
        <p:spPr>
          <a:xfrm>
            <a:off x="685800" y="3886200"/>
            <a:ext cx="3383280" cy="274320"/>
          </a:xfrm>
          <a:prstGeom prst="rect">
            <a:avLst/>
          </a:prstGeom>
          <a:noFill/>
        </p:spPr>
        <p:txBody>
          <a:bodyPr wrap="square">
            <a:spAutoFit/>
          </a:bodyPr>
          <a:lstStyle/>
          <a:p>
            <a:pPr algn="l"/>
            <a:r>
              <a:rPr sz="1300" b="1" i="0">
                <a:solidFill>
                  <a:srgbClr val="237EAB"/>
                </a:solidFill>
                <a:latin typeface="Aptos"/>
              </a:rPr>
              <a:t>Today you will:</a:t>
            </a:r>
          </a:p>
        </p:txBody>
      </p:sp>
      <p:sp>
        <p:nvSpPr>
          <p:cNvPr id="11" name="TextBox 10"/>
          <p:cNvSpPr txBox="1"/>
          <p:nvPr/>
        </p:nvSpPr>
        <p:spPr>
          <a:xfrm>
            <a:off x="685800" y="4251960"/>
            <a:ext cx="7132320" cy="731520"/>
          </a:xfrm>
          <a:prstGeom prst="rect">
            <a:avLst/>
          </a:prstGeom>
          <a:noFill/>
        </p:spPr>
        <p:txBody>
          <a:bodyPr wrap="square">
            <a:spAutoFit/>
          </a:bodyPr>
          <a:lstStyle/>
          <a:p>
            <a:pPr algn="l"/>
            <a:r>
              <a:rPr sz="1600" b="0" i="0">
                <a:solidFill>
                  <a:srgbClr val="2A2622"/>
                </a:solidFill>
                <a:latin typeface="Aptos"/>
              </a:rPr>
              <a:t>Read four scenes, discuss how Salva earns a place in a group, compare his struggle with Nya’s routine, and learn new words.</a:t>
            </a:r>
          </a:p>
        </p:txBody>
      </p:sp>
      <p:sp>
        <p:nvSpPr>
          <p:cNvPr id="12" name="Rounded Rectangle 11"/>
          <p:cNvSpPr/>
          <p:nvPr/>
        </p:nvSpPr>
        <p:spPr>
          <a:xfrm>
            <a:off x="5852160" y="4983480"/>
            <a:ext cx="2468880" cy="777240"/>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5138928"/>
            <a:ext cx="2057400" cy="411480"/>
          </a:xfrm>
          <a:prstGeom prst="rect">
            <a:avLst/>
          </a:prstGeom>
          <a:noFill/>
        </p:spPr>
        <p:txBody>
          <a:bodyPr wrap="square">
            <a:spAutoFit/>
          </a:bodyPr>
          <a:lstStyle/>
          <a:p>
            <a:pPr algn="l"/>
            <a:r>
              <a:rPr sz="1000" b="0" i="0">
                <a:solidFill>
                  <a:srgbClr val="FFFFFF"/>
                </a:solidFill>
                <a:latin typeface="Aptos"/>
              </a:rPr>
              <a:t>TIP
Ask for a specific action, not just “try harder.”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2 · READ (1 OF 4)</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Nya Reaches the Pond</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5 of 15</a:t>
            </a:r>
          </a:p>
        </p:txBody>
      </p:sp>
      <p:sp>
        <p:nvSpPr>
          <p:cNvPr id="7" name="TextBox 6"/>
          <p:cNvSpPr txBox="1"/>
          <p:nvPr/>
        </p:nvSpPr>
        <p:spPr>
          <a:xfrm>
            <a:off x="594360" y="1700784"/>
            <a:ext cx="7223760" cy="256032"/>
          </a:xfrm>
          <a:prstGeom prst="rect">
            <a:avLst/>
          </a:prstGeom>
          <a:noFill/>
        </p:spPr>
        <p:txBody>
          <a:bodyPr wrap="square">
            <a:spAutoFit/>
          </a:bodyPr>
          <a:lstStyle/>
          <a:p>
            <a:pPr algn="l"/>
            <a:r>
              <a:rPr sz="1100" b="1" i="0">
                <a:solidFill>
                  <a:srgbClr val="237EAB"/>
                </a:solidFill>
                <a:latin typeface="Aptos"/>
              </a:rPr>
              <a:t>SCENE — Southern Sudan, 2008 · Chapter Three</a:t>
            </a:r>
          </a:p>
        </p:txBody>
      </p:sp>
      <p:sp>
        <p:nvSpPr>
          <p:cNvPr id="8" name="TextBox 7"/>
          <p:cNvSpPr txBox="1"/>
          <p:nvPr/>
        </p:nvSpPr>
        <p:spPr>
          <a:xfrm>
            <a:off x="594360" y="2029968"/>
            <a:ext cx="7223760" cy="201168"/>
          </a:xfrm>
          <a:prstGeom prst="rect">
            <a:avLst/>
          </a:prstGeom>
          <a:noFill/>
        </p:spPr>
        <p:txBody>
          <a:bodyPr wrap="square">
            <a:spAutoFit/>
          </a:bodyPr>
          <a:lstStyle/>
          <a:p>
            <a:pPr algn="l"/>
            <a:r>
              <a:rPr sz="1000" b="0" i="1">
                <a:solidFill>
                  <a:srgbClr val="69635B"/>
                </a:solidFill>
                <a:latin typeface="Aptos"/>
              </a:rPr>
              <a:t>PDF pp. 17–18</a:t>
            </a:r>
          </a:p>
        </p:txBody>
      </p:sp>
      <p:sp>
        <p:nvSpPr>
          <p:cNvPr id="9" name="Rounded Rectangle 8"/>
          <p:cNvSpPr/>
          <p:nvPr/>
        </p:nvSpPr>
        <p:spPr>
          <a:xfrm>
            <a:off x="594360" y="2514600"/>
            <a:ext cx="7772400" cy="1965960"/>
          </a:xfrm>
          <a:prstGeom prst="roundRect">
            <a:avLst/>
          </a:prstGeom>
          <a:solidFill>
            <a:srgbClr val="FFFFFF"/>
          </a:solidFill>
          <a:ln>
            <a:solidFill>
              <a:srgbClr val="E1D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16352"/>
            <a:ext cx="7223760" cy="1234440"/>
          </a:xfrm>
          <a:prstGeom prst="rect">
            <a:avLst/>
          </a:prstGeom>
          <a:noFill/>
        </p:spPr>
        <p:txBody>
          <a:bodyPr wrap="square">
            <a:spAutoFit/>
          </a:bodyPr>
          <a:lstStyle/>
          <a:p>
            <a:pPr algn="l"/>
            <a:r>
              <a:rPr sz="1900" b="0" i="0">
                <a:solidFill>
                  <a:srgbClr val="2A2622"/>
                </a:solidFill>
                <a:latin typeface="Georgia"/>
              </a:rPr>
              <a:t>Nya reaches the muddy pond, drinks, fills the container, balances it on her head, and starts the harder walk home.</a:t>
            </a:r>
          </a:p>
        </p:txBody>
      </p:sp>
      <p:sp>
        <p:nvSpPr>
          <p:cNvPr id="11" name="TextBox 10"/>
          <p:cNvSpPr txBox="1"/>
          <p:nvPr/>
        </p:nvSpPr>
        <p:spPr>
          <a:xfrm>
            <a:off x="640080" y="4846320"/>
            <a:ext cx="1828800" cy="228600"/>
          </a:xfrm>
          <a:prstGeom prst="rect">
            <a:avLst/>
          </a:prstGeom>
          <a:noFill/>
        </p:spPr>
        <p:txBody>
          <a:bodyPr wrap="square">
            <a:spAutoFit/>
          </a:bodyPr>
          <a:lstStyle/>
          <a:p>
            <a:pPr algn="l"/>
            <a:r>
              <a:rPr sz="1200" b="1" i="0">
                <a:solidFill>
                  <a:srgbClr val="3E2E23"/>
                </a:solidFill>
                <a:latin typeface="Aptos"/>
              </a:rPr>
              <a:t>While reading, ask:</a:t>
            </a:r>
          </a:p>
        </p:txBody>
      </p:sp>
      <p:sp>
        <p:nvSpPr>
          <p:cNvPr id="12" name="TextBox 11"/>
          <p:cNvSpPr txBox="1"/>
          <p:nvPr/>
        </p:nvSpPr>
        <p:spPr>
          <a:xfrm>
            <a:off x="640080" y="5212080"/>
            <a:ext cx="7315200" cy="594360"/>
          </a:xfrm>
          <a:prstGeom prst="rect">
            <a:avLst/>
          </a:prstGeom>
          <a:noFill/>
        </p:spPr>
        <p:txBody>
          <a:bodyPr wrap="square">
            <a:spAutoFit/>
          </a:bodyPr>
          <a:lstStyle/>
          <a:p>
            <a:pPr algn="l"/>
            <a:r>
              <a:rPr sz="1700" b="1" i="0">
                <a:solidFill>
                  <a:srgbClr val="237EAB"/>
                </a:solidFill>
                <a:latin typeface="Aptos"/>
              </a:rPr>
              <a:t>What details show that getting water is physically demanding?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2 · READ (2 OF 4)</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Salva Meets the Dinka Woman</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6 of 15</a:t>
            </a:r>
          </a:p>
        </p:txBody>
      </p:sp>
      <p:sp>
        <p:nvSpPr>
          <p:cNvPr id="7" name="TextBox 6"/>
          <p:cNvSpPr txBox="1"/>
          <p:nvPr/>
        </p:nvSpPr>
        <p:spPr>
          <a:xfrm>
            <a:off x="594360" y="1700784"/>
            <a:ext cx="7223760" cy="256032"/>
          </a:xfrm>
          <a:prstGeom prst="rect">
            <a:avLst/>
          </a:prstGeom>
          <a:noFill/>
        </p:spPr>
        <p:txBody>
          <a:bodyPr wrap="square">
            <a:spAutoFit/>
          </a:bodyPr>
          <a:lstStyle/>
          <a:p>
            <a:pPr algn="l"/>
            <a:r>
              <a:rPr sz="1100" b="1" i="0">
                <a:solidFill>
                  <a:srgbClr val="237EAB"/>
                </a:solidFill>
                <a:latin typeface="Aptos"/>
              </a:rPr>
              <a:t>SCENE — Southern Sudan, 1985 · Chapter Three</a:t>
            </a:r>
          </a:p>
        </p:txBody>
      </p:sp>
      <p:sp>
        <p:nvSpPr>
          <p:cNvPr id="8" name="TextBox 7"/>
          <p:cNvSpPr txBox="1"/>
          <p:nvPr/>
        </p:nvSpPr>
        <p:spPr>
          <a:xfrm>
            <a:off x="594360" y="2029968"/>
            <a:ext cx="7223760" cy="201168"/>
          </a:xfrm>
          <a:prstGeom prst="rect">
            <a:avLst/>
          </a:prstGeom>
          <a:noFill/>
        </p:spPr>
        <p:txBody>
          <a:bodyPr wrap="square">
            <a:spAutoFit/>
          </a:bodyPr>
          <a:lstStyle/>
          <a:p>
            <a:pPr algn="l"/>
            <a:r>
              <a:rPr sz="1000" b="0" i="1">
                <a:solidFill>
                  <a:srgbClr val="69635B"/>
                </a:solidFill>
                <a:latin typeface="Aptos"/>
              </a:rPr>
              <a:t>PDF pp. 18–19</a:t>
            </a:r>
          </a:p>
        </p:txBody>
      </p:sp>
      <p:sp>
        <p:nvSpPr>
          <p:cNvPr id="9" name="Rounded Rectangle 8"/>
          <p:cNvSpPr/>
          <p:nvPr/>
        </p:nvSpPr>
        <p:spPr>
          <a:xfrm>
            <a:off x="594360" y="2514600"/>
            <a:ext cx="7772400" cy="1965960"/>
          </a:xfrm>
          <a:prstGeom prst="roundRect">
            <a:avLst/>
          </a:prstGeom>
          <a:solidFill>
            <a:srgbClr val="FFFFFF"/>
          </a:solidFill>
          <a:ln>
            <a:solidFill>
              <a:srgbClr val="E1D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16352"/>
            <a:ext cx="7223760" cy="1234440"/>
          </a:xfrm>
          <a:prstGeom prst="rect">
            <a:avLst/>
          </a:prstGeom>
          <a:noFill/>
        </p:spPr>
        <p:txBody>
          <a:bodyPr wrap="square">
            <a:spAutoFit/>
          </a:bodyPr>
          <a:lstStyle/>
          <a:p>
            <a:pPr algn="l"/>
            <a:r>
              <a:rPr sz="1900" b="0" i="0">
                <a:solidFill>
                  <a:srgbClr val="2A2622"/>
                </a:solidFill>
                <a:latin typeface="Georgia"/>
              </a:rPr>
              <a:t>Salva recognizes the woman’s Dinka scar patterns. She gives him peanuts, but cannot tell him how to find his family.</a:t>
            </a:r>
          </a:p>
        </p:txBody>
      </p:sp>
      <p:sp>
        <p:nvSpPr>
          <p:cNvPr id="11" name="TextBox 10"/>
          <p:cNvSpPr txBox="1"/>
          <p:nvPr/>
        </p:nvSpPr>
        <p:spPr>
          <a:xfrm>
            <a:off x="640080" y="4846320"/>
            <a:ext cx="1828800" cy="228600"/>
          </a:xfrm>
          <a:prstGeom prst="rect">
            <a:avLst/>
          </a:prstGeom>
          <a:noFill/>
        </p:spPr>
        <p:txBody>
          <a:bodyPr wrap="square">
            <a:spAutoFit/>
          </a:bodyPr>
          <a:lstStyle/>
          <a:p>
            <a:pPr algn="l"/>
            <a:r>
              <a:rPr sz="1200" b="1" i="0">
                <a:solidFill>
                  <a:srgbClr val="3E2E23"/>
                </a:solidFill>
                <a:latin typeface="Aptos"/>
              </a:rPr>
              <a:t>While reading, ask:</a:t>
            </a:r>
          </a:p>
        </p:txBody>
      </p:sp>
      <p:sp>
        <p:nvSpPr>
          <p:cNvPr id="12" name="TextBox 11"/>
          <p:cNvSpPr txBox="1"/>
          <p:nvPr/>
        </p:nvSpPr>
        <p:spPr>
          <a:xfrm>
            <a:off x="640080" y="5212080"/>
            <a:ext cx="7315200" cy="594360"/>
          </a:xfrm>
          <a:prstGeom prst="rect">
            <a:avLst/>
          </a:prstGeom>
          <a:noFill/>
        </p:spPr>
        <p:txBody>
          <a:bodyPr wrap="square">
            <a:spAutoFit/>
          </a:bodyPr>
          <a:lstStyle/>
          <a:p>
            <a:pPr algn="l"/>
            <a:r>
              <a:rPr sz="1700" b="1" i="0">
                <a:solidFill>
                  <a:srgbClr val="237EAB"/>
                </a:solidFill>
                <a:latin typeface="Aptos"/>
              </a:rPr>
              <a:t>Why does recognizing the Dinka markings immediately change Salva’s feelings?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2 · READ (3 OF 4)</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The Woman Must Leave</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7 of 15</a:t>
            </a:r>
          </a:p>
        </p:txBody>
      </p:sp>
      <p:sp>
        <p:nvSpPr>
          <p:cNvPr id="7" name="TextBox 6"/>
          <p:cNvSpPr txBox="1"/>
          <p:nvPr/>
        </p:nvSpPr>
        <p:spPr>
          <a:xfrm>
            <a:off x="594360" y="1700784"/>
            <a:ext cx="7223760" cy="256032"/>
          </a:xfrm>
          <a:prstGeom prst="rect">
            <a:avLst/>
          </a:prstGeom>
          <a:noFill/>
        </p:spPr>
        <p:txBody>
          <a:bodyPr wrap="square">
            <a:spAutoFit/>
          </a:bodyPr>
          <a:lstStyle/>
          <a:p>
            <a:pPr algn="l"/>
            <a:r>
              <a:rPr sz="1100" b="1" i="0">
                <a:solidFill>
                  <a:srgbClr val="237EAB"/>
                </a:solidFill>
                <a:latin typeface="Aptos"/>
              </a:rPr>
              <a:t>SCENE — Southern Sudan, 1985 · Chapter Three</a:t>
            </a:r>
          </a:p>
        </p:txBody>
      </p:sp>
      <p:sp>
        <p:nvSpPr>
          <p:cNvPr id="8" name="TextBox 7"/>
          <p:cNvSpPr txBox="1"/>
          <p:nvPr/>
        </p:nvSpPr>
        <p:spPr>
          <a:xfrm>
            <a:off x="594360" y="2029968"/>
            <a:ext cx="7223760" cy="201168"/>
          </a:xfrm>
          <a:prstGeom prst="rect">
            <a:avLst/>
          </a:prstGeom>
          <a:noFill/>
        </p:spPr>
        <p:txBody>
          <a:bodyPr wrap="square">
            <a:spAutoFit/>
          </a:bodyPr>
          <a:lstStyle/>
          <a:p>
            <a:pPr algn="l"/>
            <a:r>
              <a:rPr sz="1000" b="0" i="1">
                <a:solidFill>
                  <a:srgbClr val="69635B"/>
                </a:solidFill>
                <a:latin typeface="Aptos"/>
              </a:rPr>
              <a:t>PDF pp. 20–21</a:t>
            </a:r>
          </a:p>
        </p:txBody>
      </p:sp>
      <p:sp>
        <p:nvSpPr>
          <p:cNvPr id="9" name="Rounded Rectangle 8"/>
          <p:cNvSpPr/>
          <p:nvPr/>
        </p:nvSpPr>
        <p:spPr>
          <a:xfrm>
            <a:off x="594360" y="2514600"/>
            <a:ext cx="7772400" cy="1965960"/>
          </a:xfrm>
          <a:prstGeom prst="roundRect">
            <a:avLst/>
          </a:prstGeom>
          <a:solidFill>
            <a:srgbClr val="FFFFFF"/>
          </a:solidFill>
          <a:ln>
            <a:solidFill>
              <a:srgbClr val="E1D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16352"/>
            <a:ext cx="7223760" cy="1234440"/>
          </a:xfrm>
          <a:prstGeom prst="rect">
            <a:avLst/>
          </a:prstGeom>
          <a:noFill/>
        </p:spPr>
        <p:txBody>
          <a:bodyPr wrap="square">
            <a:spAutoFit/>
          </a:bodyPr>
          <a:lstStyle/>
          <a:p>
            <a:pPr algn="l"/>
            <a:r>
              <a:rPr sz="1900" b="0" i="0">
                <a:solidFill>
                  <a:srgbClr val="2A2622"/>
                </a:solidFill>
                <a:latin typeface="Georgia"/>
              </a:rPr>
              <a:t>The pond is drying up, fighting is nearby, and the old woman tells Salva he cannot travel with her. Then Salva hears approaching voices.</a:t>
            </a:r>
          </a:p>
        </p:txBody>
      </p:sp>
      <p:sp>
        <p:nvSpPr>
          <p:cNvPr id="11" name="TextBox 10"/>
          <p:cNvSpPr txBox="1"/>
          <p:nvPr/>
        </p:nvSpPr>
        <p:spPr>
          <a:xfrm>
            <a:off x="640080" y="4846320"/>
            <a:ext cx="1828800" cy="228600"/>
          </a:xfrm>
          <a:prstGeom prst="rect">
            <a:avLst/>
          </a:prstGeom>
          <a:noFill/>
        </p:spPr>
        <p:txBody>
          <a:bodyPr wrap="square">
            <a:spAutoFit/>
          </a:bodyPr>
          <a:lstStyle/>
          <a:p>
            <a:pPr algn="l"/>
            <a:r>
              <a:rPr sz="1200" b="1" i="0">
                <a:solidFill>
                  <a:srgbClr val="3E2E23"/>
                </a:solidFill>
                <a:latin typeface="Aptos"/>
              </a:rPr>
              <a:t>While reading, ask:</a:t>
            </a:r>
          </a:p>
        </p:txBody>
      </p:sp>
      <p:sp>
        <p:nvSpPr>
          <p:cNvPr id="12" name="TextBox 11"/>
          <p:cNvSpPr txBox="1"/>
          <p:nvPr/>
        </p:nvSpPr>
        <p:spPr>
          <a:xfrm>
            <a:off x="640080" y="5212080"/>
            <a:ext cx="7315200" cy="594360"/>
          </a:xfrm>
          <a:prstGeom prst="rect">
            <a:avLst/>
          </a:prstGeom>
          <a:noFill/>
        </p:spPr>
        <p:txBody>
          <a:bodyPr wrap="square">
            <a:spAutoFit/>
          </a:bodyPr>
          <a:lstStyle/>
          <a:p>
            <a:pPr algn="l"/>
            <a:r>
              <a:rPr sz="1700" b="1" i="0">
                <a:solidFill>
                  <a:srgbClr val="237EAB"/>
                </a:solidFill>
                <a:latin typeface="Aptos"/>
              </a:rPr>
              <a:t>Why is the woman’s decision understandable even though it hurts Salva?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2 · READ (4 OF 4)</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A New Group &amp; the Long Walk</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8 of 15</a:t>
            </a:r>
          </a:p>
        </p:txBody>
      </p:sp>
      <p:sp>
        <p:nvSpPr>
          <p:cNvPr id="7" name="TextBox 6"/>
          <p:cNvSpPr txBox="1"/>
          <p:nvPr/>
        </p:nvSpPr>
        <p:spPr>
          <a:xfrm>
            <a:off x="594360" y="1700784"/>
            <a:ext cx="7223760" cy="256032"/>
          </a:xfrm>
          <a:prstGeom prst="rect">
            <a:avLst/>
          </a:prstGeom>
          <a:noFill/>
        </p:spPr>
        <p:txBody>
          <a:bodyPr wrap="square">
            <a:spAutoFit/>
          </a:bodyPr>
          <a:lstStyle/>
          <a:p>
            <a:pPr algn="l"/>
            <a:r>
              <a:rPr sz="1100" b="1" i="0">
                <a:solidFill>
                  <a:srgbClr val="237EAB"/>
                </a:solidFill>
                <a:latin typeface="Aptos"/>
              </a:rPr>
              <a:t>SCENE — Southern Sudan, 1985 · Chapter Four</a:t>
            </a:r>
          </a:p>
        </p:txBody>
      </p:sp>
      <p:sp>
        <p:nvSpPr>
          <p:cNvPr id="8" name="TextBox 7"/>
          <p:cNvSpPr txBox="1"/>
          <p:nvPr/>
        </p:nvSpPr>
        <p:spPr>
          <a:xfrm>
            <a:off x="594360" y="2029968"/>
            <a:ext cx="7223760" cy="201168"/>
          </a:xfrm>
          <a:prstGeom prst="rect">
            <a:avLst/>
          </a:prstGeom>
          <a:noFill/>
        </p:spPr>
        <p:txBody>
          <a:bodyPr wrap="square">
            <a:spAutoFit/>
          </a:bodyPr>
          <a:lstStyle/>
          <a:p>
            <a:pPr algn="l"/>
            <a:r>
              <a:rPr sz="1000" b="0" i="1">
                <a:solidFill>
                  <a:srgbClr val="69635B"/>
                </a:solidFill>
                <a:latin typeface="Aptos"/>
              </a:rPr>
              <a:t>PDF pp. 22–25</a:t>
            </a:r>
          </a:p>
        </p:txBody>
      </p:sp>
      <p:sp>
        <p:nvSpPr>
          <p:cNvPr id="9" name="Rounded Rectangle 8"/>
          <p:cNvSpPr/>
          <p:nvPr/>
        </p:nvSpPr>
        <p:spPr>
          <a:xfrm>
            <a:off x="594360" y="2514600"/>
            <a:ext cx="7772400" cy="1965960"/>
          </a:xfrm>
          <a:prstGeom prst="roundRect">
            <a:avLst/>
          </a:prstGeom>
          <a:solidFill>
            <a:srgbClr val="FFFFFF"/>
          </a:solidFill>
          <a:ln>
            <a:solidFill>
              <a:srgbClr val="E1D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16352"/>
            <a:ext cx="7223760" cy="1234440"/>
          </a:xfrm>
          <a:prstGeom prst="rect">
            <a:avLst/>
          </a:prstGeom>
          <a:noFill/>
        </p:spPr>
        <p:txBody>
          <a:bodyPr wrap="square">
            <a:spAutoFit/>
          </a:bodyPr>
          <a:lstStyle/>
          <a:p>
            <a:pPr algn="l"/>
            <a:r>
              <a:rPr sz="1900" b="0" i="0">
                <a:solidFill>
                  <a:srgbClr val="2A2622"/>
                </a:solidFill>
                <a:latin typeface="Georgia"/>
              </a:rPr>
              <a:t>A Dinka group agrees to take Salva. He is determined not to lag behind. Hunger grows until Buksa follows a honey guide to a beehive.</a:t>
            </a:r>
          </a:p>
        </p:txBody>
      </p:sp>
      <p:sp>
        <p:nvSpPr>
          <p:cNvPr id="11" name="TextBox 10"/>
          <p:cNvSpPr txBox="1"/>
          <p:nvPr/>
        </p:nvSpPr>
        <p:spPr>
          <a:xfrm>
            <a:off x="640080" y="4846320"/>
            <a:ext cx="1828800" cy="228600"/>
          </a:xfrm>
          <a:prstGeom prst="rect">
            <a:avLst/>
          </a:prstGeom>
          <a:noFill/>
        </p:spPr>
        <p:txBody>
          <a:bodyPr wrap="square">
            <a:spAutoFit/>
          </a:bodyPr>
          <a:lstStyle/>
          <a:p>
            <a:pPr algn="l"/>
            <a:r>
              <a:rPr sz="1200" b="1" i="0">
                <a:solidFill>
                  <a:srgbClr val="3E2E23"/>
                </a:solidFill>
                <a:latin typeface="Aptos"/>
              </a:rPr>
              <a:t>While reading, ask:</a:t>
            </a:r>
          </a:p>
        </p:txBody>
      </p:sp>
      <p:sp>
        <p:nvSpPr>
          <p:cNvPr id="12" name="TextBox 11"/>
          <p:cNvSpPr txBox="1"/>
          <p:nvPr/>
        </p:nvSpPr>
        <p:spPr>
          <a:xfrm>
            <a:off x="640080" y="5212080"/>
            <a:ext cx="7315200" cy="594360"/>
          </a:xfrm>
          <a:prstGeom prst="rect">
            <a:avLst/>
          </a:prstGeom>
          <a:noFill/>
        </p:spPr>
        <p:txBody>
          <a:bodyPr wrap="square">
            <a:spAutoFit/>
          </a:bodyPr>
          <a:lstStyle/>
          <a:p>
            <a:pPr algn="l"/>
            <a:r>
              <a:rPr sz="1700" b="1" i="0">
                <a:solidFill>
                  <a:srgbClr val="237EAB"/>
                </a:solidFill>
                <a:latin typeface="Aptos"/>
              </a:rPr>
              <a:t>What does Salva do to make himself useful—or at least not a burden—to the group?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3 · SOLVE</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From Reading to Interpretation</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9 of 15</a:t>
            </a:r>
          </a:p>
        </p:txBody>
      </p:sp>
      <p:sp>
        <p:nvSpPr>
          <p:cNvPr id="7" name="TextBox 6"/>
          <p:cNvSpPr txBox="1"/>
          <p:nvPr/>
        </p:nvSpPr>
        <p:spPr>
          <a:xfrm>
            <a:off x="685800" y="1783080"/>
            <a:ext cx="7498079" cy="502920"/>
          </a:xfrm>
          <a:prstGeom prst="rect">
            <a:avLst/>
          </a:prstGeom>
          <a:noFill/>
        </p:spPr>
        <p:txBody>
          <a:bodyPr wrap="square">
            <a:spAutoFit/>
          </a:bodyPr>
          <a:lstStyle/>
          <a:p>
            <a:pPr algn="l"/>
            <a:r>
              <a:rPr sz="1500" b="0" i="0">
                <a:solidFill>
                  <a:srgbClr val="2A2622"/>
                </a:solidFill>
                <a:latin typeface="Aptos"/>
              </a:rPr>
              <a:t>1   Why does Salva feel relief when he sees the old woman’s Dinka scar patterns?</a:t>
            </a:r>
          </a:p>
        </p:txBody>
      </p:sp>
      <p:sp>
        <p:nvSpPr>
          <p:cNvPr id="8" name="TextBox 7"/>
          <p:cNvSpPr txBox="1"/>
          <p:nvPr/>
        </p:nvSpPr>
        <p:spPr>
          <a:xfrm>
            <a:off x="685800" y="2496312"/>
            <a:ext cx="7498079" cy="502920"/>
          </a:xfrm>
          <a:prstGeom prst="rect">
            <a:avLst/>
          </a:prstGeom>
          <a:noFill/>
        </p:spPr>
        <p:txBody>
          <a:bodyPr wrap="square">
            <a:spAutoFit/>
          </a:bodyPr>
          <a:lstStyle/>
          <a:p>
            <a:pPr algn="l"/>
            <a:r>
              <a:rPr sz="1500" b="0" i="0">
                <a:solidFill>
                  <a:srgbClr val="2A2622"/>
                </a:solidFill>
                <a:latin typeface="Aptos"/>
              </a:rPr>
              <a:t>2   How does Nya’s trip home differ from her trip to the pond?</a:t>
            </a:r>
          </a:p>
        </p:txBody>
      </p:sp>
      <p:sp>
        <p:nvSpPr>
          <p:cNvPr id="9" name="TextBox 8"/>
          <p:cNvSpPr txBox="1"/>
          <p:nvPr/>
        </p:nvSpPr>
        <p:spPr>
          <a:xfrm>
            <a:off x="685800" y="3209544"/>
            <a:ext cx="7498079" cy="502920"/>
          </a:xfrm>
          <a:prstGeom prst="rect">
            <a:avLst/>
          </a:prstGeom>
          <a:noFill/>
        </p:spPr>
        <p:txBody>
          <a:bodyPr wrap="square">
            <a:spAutoFit/>
          </a:bodyPr>
          <a:lstStyle/>
          <a:p>
            <a:pPr algn="l"/>
            <a:r>
              <a:rPr sz="1500" b="0" i="0">
                <a:solidFill>
                  <a:srgbClr val="2A2622"/>
                </a:solidFill>
                <a:latin typeface="Aptos"/>
              </a:rPr>
              <a:t>3   Why do some travelers initially resist taking Salva with them?</a:t>
            </a:r>
          </a:p>
        </p:txBody>
      </p:sp>
      <p:sp>
        <p:nvSpPr>
          <p:cNvPr id="10" name="TextBox 9"/>
          <p:cNvSpPr txBox="1"/>
          <p:nvPr/>
        </p:nvSpPr>
        <p:spPr>
          <a:xfrm>
            <a:off x="685800" y="3922776"/>
            <a:ext cx="7498079" cy="502920"/>
          </a:xfrm>
          <a:prstGeom prst="rect">
            <a:avLst/>
          </a:prstGeom>
          <a:noFill/>
        </p:spPr>
        <p:txBody>
          <a:bodyPr wrap="square">
            <a:spAutoFit/>
          </a:bodyPr>
          <a:lstStyle/>
          <a:p>
            <a:pPr algn="l"/>
            <a:r>
              <a:rPr sz="1500" b="0" i="0">
                <a:solidFill>
                  <a:srgbClr val="2A2622"/>
                </a:solidFill>
                <a:latin typeface="Aptos"/>
              </a:rPr>
              <a:t>4   What does Salva’s decision not to complain reveal about his character?</a:t>
            </a:r>
          </a:p>
        </p:txBody>
      </p:sp>
      <p:sp>
        <p:nvSpPr>
          <p:cNvPr id="11" name="TextBox 10"/>
          <p:cNvSpPr txBox="1"/>
          <p:nvPr/>
        </p:nvSpPr>
        <p:spPr>
          <a:xfrm>
            <a:off x="685800" y="4636008"/>
            <a:ext cx="7498079" cy="502920"/>
          </a:xfrm>
          <a:prstGeom prst="rect">
            <a:avLst/>
          </a:prstGeom>
          <a:noFill/>
        </p:spPr>
        <p:txBody>
          <a:bodyPr wrap="square">
            <a:spAutoFit/>
          </a:bodyPr>
          <a:lstStyle/>
          <a:p>
            <a:pPr algn="l"/>
            <a:r>
              <a:rPr sz="1500" b="1" i="0">
                <a:solidFill>
                  <a:srgbClr val="237EAB"/>
                </a:solidFill>
                <a:latin typeface="Aptos"/>
              </a:rPr>
              <a:t>5   How do Chapters 3–4 develop the idea of belonging?</a:t>
            </a:r>
          </a:p>
        </p:txBody>
      </p:sp>
      <p:sp>
        <p:nvSpPr>
          <p:cNvPr id="12" name="TextBox 11"/>
          <p:cNvSpPr txBox="1"/>
          <p:nvPr/>
        </p:nvSpPr>
        <p:spPr>
          <a:xfrm>
            <a:off x="685800" y="5532120"/>
            <a:ext cx="7406640" cy="411480"/>
          </a:xfrm>
          <a:prstGeom prst="rect">
            <a:avLst/>
          </a:prstGeom>
          <a:noFill/>
        </p:spPr>
        <p:txBody>
          <a:bodyPr wrap="square">
            <a:spAutoFit/>
          </a:bodyPr>
          <a:lstStyle/>
          <a:p>
            <a:pPr algn="l"/>
            <a:r>
              <a:rPr sz="1100" b="0" i="1">
                <a:solidFill>
                  <a:srgbClr val="69635B"/>
                </a:solidFill>
                <a:latin typeface="Aptos"/>
              </a:rPr>
              <a:t>Teacher follow-up: “What in the text makes you think that?” Have the student point to a specific detail.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4 · MEMORIZE</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New Words: Part 1</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10 of 15</a:t>
            </a:r>
          </a:p>
        </p:txBody>
      </p:sp>
      <p:sp>
        <p:nvSpPr>
          <p:cNvPr id="7" name="Rounded Rectangle 6"/>
          <p:cNvSpPr/>
          <p:nvPr/>
        </p:nvSpPr>
        <p:spPr>
          <a:xfrm>
            <a:off x="685800" y="1783080"/>
            <a:ext cx="457200" cy="45720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92807"/>
            <a:ext cx="457200" cy="182880"/>
          </a:xfrm>
          <a:prstGeom prst="rect">
            <a:avLst/>
          </a:prstGeom>
          <a:noFill/>
        </p:spPr>
        <p:txBody>
          <a:bodyPr wrap="square">
            <a:spAutoFit/>
          </a:bodyPr>
          <a:lstStyle/>
          <a:p>
            <a:pPr algn="ctr"/>
            <a:r>
              <a:rPr sz="1200" b="1" i="0">
                <a:solidFill>
                  <a:srgbClr val="FFFFFF"/>
                </a:solidFill>
                <a:latin typeface="Aptos"/>
              </a:rPr>
              <a:t>R</a:t>
            </a:r>
          </a:p>
        </p:txBody>
      </p:sp>
      <p:sp>
        <p:nvSpPr>
          <p:cNvPr id="9" name="TextBox 8"/>
          <p:cNvSpPr txBox="1"/>
          <p:nvPr/>
        </p:nvSpPr>
        <p:spPr>
          <a:xfrm>
            <a:off x="1325880" y="1783080"/>
            <a:ext cx="1554480" cy="274320"/>
          </a:xfrm>
          <a:prstGeom prst="rect">
            <a:avLst/>
          </a:prstGeom>
          <a:noFill/>
        </p:spPr>
        <p:txBody>
          <a:bodyPr wrap="square">
            <a:spAutoFit/>
          </a:bodyPr>
          <a:lstStyle/>
          <a:p>
            <a:pPr algn="l"/>
            <a:r>
              <a:rPr sz="1800" b="1" i="0">
                <a:solidFill>
                  <a:srgbClr val="3E2E23"/>
                </a:solidFill>
                <a:latin typeface="Aptos"/>
              </a:rPr>
              <a:t>Ritual</a:t>
            </a:r>
          </a:p>
        </p:txBody>
      </p:sp>
      <p:sp>
        <p:nvSpPr>
          <p:cNvPr id="10" name="TextBox 9"/>
          <p:cNvSpPr txBox="1"/>
          <p:nvPr/>
        </p:nvSpPr>
        <p:spPr>
          <a:xfrm>
            <a:off x="2788920" y="1783080"/>
            <a:ext cx="5212080" cy="320040"/>
          </a:xfrm>
          <a:prstGeom prst="rect">
            <a:avLst/>
          </a:prstGeom>
          <a:noFill/>
        </p:spPr>
        <p:txBody>
          <a:bodyPr wrap="square">
            <a:spAutoFit/>
          </a:bodyPr>
          <a:lstStyle/>
          <a:p>
            <a:pPr algn="l"/>
            <a:r>
              <a:rPr sz="1400" b="0" i="0">
                <a:solidFill>
                  <a:srgbClr val="2A2622"/>
                </a:solidFill>
                <a:latin typeface="Aptos"/>
              </a:rPr>
              <a:t>a formal or traditional practice</a:t>
            </a:r>
          </a:p>
        </p:txBody>
      </p:sp>
      <p:sp>
        <p:nvSpPr>
          <p:cNvPr id="11" name="TextBox 10"/>
          <p:cNvSpPr txBox="1"/>
          <p:nvPr/>
        </p:nvSpPr>
        <p:spPr>
          <a:xfrm>
            <a:off x="2788920" y="2221991"/>
            <a:ext cx="5212080" cy="320040"/>
          </a:xfrm>
          <a:prstGeom prst="rect">
            <a:avLst/>
          </a:prstGeom>
          <a:noFill/>
        </p:spPr>
        <p:txBody>
          <a:bodyPr wrap="square">
            <a:spAutoFit/>
          </a:bodyPr>
          <a:lstStyle/>
          <a:p>
            <a:pPr algn="l"/>
            <a:r>
              <a:rPr sz="1100" b="0" i="0">
                <a:solidFill>
                  <a:srgbClr val="237EAB"/>
                </a:solidFill>
                <a:latin typeface="Aptos"/>
              </a:rPr>
              <a:t>PRACTICE  Why are the scar patterns meaningful to Salva?</a:t>
            </a:r>
          </a:p>
        </p:txBody>
      </p:sp>
      <p:sp>
        <p:nvSpPr>
          <p:cNvPr id="12" name="Rounded Rectangle 11"/>
          <p:cNvSpPr/>
          <p:nvPr/>
        </p:nvSpPr>
        <p:spPr>
          <a:xfrm>
            <a:off x="685800" y="3108960"/>
            <a:ext cx="457200" cy="45720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18688"/>
            <a:ext cx="457200" cy="182880"/>
          </a:xfrm>
          <a:prstGeom prst="rect">
            <a:avLst/>
          </a:prstGeom>
          <a:noFill/>
        </p:spPr>
        <p:txBody>
          <a:bodyPr wrap="square">
            <a:spAutoFit/>
          </a:bodyPr>
          <a:lstStyle/>
          <a:p>
            <a:pPr algn="ctr"/>
            <a:r>
              <a:rPr sz="1200" b="1" i="0">
                <a:solidFill>
                  <a:srgbClr val="FFFFFF"/>
                </a:solidFill>
                <a:latin typeface="Aptos"/>
              </a:rPr>
              <a:t>U</a:t>
            </a:r>
          </a:p>
        </p:txBody>
      </p:sp>
      <p:sp>
        <p:nvSpPr>
          <p:cNvPr id="14" name="TextBox 13"/>
          <p:cNvSpPr txBox="1"/>
          <p:nvPr/>
        </p:nvSpPr>
        <p:spPr>
          <a:xfrm>
            <a:off x="1325880" y="3108960"/>
            <a:ext cx="1554480" cy="274320"/>
          </a:xfrm>
          <a:prstGeom prst="rect">
            <a:avLst/>
          </a:prstGeom>
          <a:noFill/>
        </p:spPr>
        <p:txBody>
          <a:bodyPr wrap="square">
            <a:spAutoFit/>
          </a:bodyPr>
          <a:lstStyle/>
          <a:p>
            <a:pPr algn="l"/>
            <a:r>
              <a:rPr sz="1800" b="1" i="0">
                <a:solidFill>
                  <a:srgbClr val="3E2E23"/>
                </a:solidFill>
                <a:latin typeface="Aptos"/>
              </a:rPr>
              <a:t>Uncertainty</a:t>
            </a:r>
          </a:p>
        </p:txBody>
      </p:sp>
      <p:sp>
        <p:nvSpPr>
          <p:cNvPr id="15" name="TextBox 14"/>
          <p:cNvSpPr txBox="1"/>
          <p:nvPr/>
        </p:nvSpPr>
        <p:spPr>
          <a:xfrm>
            <a:off x="2788920" y="3108960"/>
            <a:ext cx="5212080" cy="320040"/>
          </a:xfrm>
          <a:prstGeom prst="rect">
            <a:avLst/>
          </a:prstGeom>
          <a:noFill/>
        </p:spPr>
        <p:txBody>
          <a:bodyPr wrap="square">
            <a:spAutoFit/>
          </a:bodyPr>
          <a:lstStyle/>
          <a:p>
            <a:pPr algn="l"/>
            <a:r>
              <a:rPr sz="1400" b="0" i="0">
                <a:solidFill>
                  <a:srgbClr val="2A2622"/>
                </a:solidFill>
                <a:latin typeface="Aptos"/>
              </a:rPr>
              <a:t>the state of not knowing what will happen</a:t>
            </a:r>
          </a:p>
        </p:txBody>
      </p:sp>
      <p:sp>
        <p:nvSpPr>
          <p:cNvPr id="16" name="TextBox 15"/>
          <p:cNvSpPr txBox="1"/>
          <p:nvPr/>
        </p:nvSpPr>
        <p:spPr>
          <a:xfrm>
            <a:off x="2788920" y="3547872"/>
            <a:ext cx="5212080" cy="320040"/>
          </a:xfrm>
          <a:prstGeom prst="rect">
            <a:avLst/>
          </a:prstGeom>
          <a:noFill/>
        </p:spPr>
        <p:txBody>
          <a:bodyPr wrap="square">
            <a:spAutoFit/>
          </a:bodyPr>
          <a:lstStyle/>
          <a:p>
            <a:pPr algn="l"/>
            <a:r>
              <a:rPr sz="1100" b="0" i="0">
                <a:solidFill>
                  <a:srgbClr val="237EAB"/>
                </a:solidFill>
                <a:latin typeface="Aptos"/>
              </a:rPr>
              <a:t>PRACTICE  What uncertainty is Salva facing?</a:t>
            </a:r>
          </a:p>
        </p:txBody>
      </p:sp>
      <p:sp>
        <p:nvSpPr>
          <p:cNvPr id="17" name="Rounded Rectangle 16"/>
          <p:cNvSpPr/>
          <p:nvPr/>
        </p:nvSpPr>
        <p:spPr>
          <a:xfrm>
            <a:off x="685800" y="4434840"/>
            <a:ext cx="457200" cy="45720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544568"/>
            <a:ext cx="457200" cy="182880"/>
          </a:xfrm>
          <a:prstGeom prst="rect">
            <a:avLst/>
          </a:prstGeom>
          <a:noFill/>
        </p:spPr>
        <p:txBody>
          <a:bodyPr wrap="square">
            <a:spAutoFit/>
          </a:bodyPr>
          <a:lstStyle/>
          <a:p>
            <a:pPr algn="ctr"/>
            <a:r>
              <a:rPr sz="1200" b="1" i="0">
                <a:solidFill>
                  <a:srgbClr val="FFFFFF"/>
                </a:solidFill>
                <a:latin typeface="Aptos"/>
              </a:rPr>
              <a:t>A</a:t>
            </a:r>
          </a:p>
        </p:txBody>
      </p:sp>
      <p:sp>
        <p:nvSpPr>
          <p:cNvPr id="19" name="TextBox 18"/>
          <p:cNvSpPr txBox="1"/>
          <p:nvPr/>
        </p:nvSpPr>
        <p:spPr>
          <a:xfrm>
            <a:off x="1325880" y="4434840"/>
            <a:ext cx="1554480" cy="274320"/>
          </a:xfrm>
          <a:prstGeom prst="rect">
            <a:avLst/>
          </a:prstGeom>
          <a:noFill/>
        </p:spPr>
        <p:txBody>
          <a:bodyPr wrap="square">
            <a:spAutoFit/>
          </a:bodyPr>
          <a:lstStyle/>
          <a:p>
            <a:pPr algn="l"/>
            <a:r>
              <a:rPr sz="1800" b="1" i="0">
                <a:solidFill>
                  <a:srgbClr val="3E2E23"/>
                </a:solidFill>
                <a:latin typeface="Aptos"/>
              </a:rPr>
              <a:t>Artillery</a:t>
            </a:r>
          </a:p>
        </p:txBody>
      </p:sp>
      <p:sp>
        <p:nvSpPr>
          <p:cNvPr id="20" name="TextBox 19"/>
          <p:cNvSpPr txBox="1"/>
          <p:nvPr/>
        </p:nvSpPr>
        <p:spPr>
          <a:xfrm>
            <a:off x="2788920" y="4434840"/>
            <a:ext cx="5212080" cy="320040"/>
          </a:xfrm>
          <a:prstGeom prst="rect">
            <a:avLst/>
          </a:prstGeom>
          <a:noFill/>
        </p:spPr>
        <p:txBody>
          <a:bodyPr wrap="square">
            <a:spAutoFit/>
          </a:bodyPr>
          <a:lstStyle/>
          <a:p>
            <a:pPr algn="l"/>
            <a:r>
              <a:rPr sz="1400" b="0" i="0">
                <a:solidFill>
                  <a:srgbClr val="2A2622"/>
                </a:solidFill>
                <a:latin typeface="Aptos"/>
              </a:rPr>
              <a:t>large military weapons used to fire shells</a:t>
            </a:r>
          </a:p>
        </p:txBody>
      </p:sp>
      <p:sp>
        <p:nvSpPr>
          <p:cNvPr id="21" name="TextBox 20"/>
          <p:cNvSpPr txBox="1"/>
          <p:nvPr/>
        </p:nvSpPr>
        <p:spPr>
          <a:xfrm>
            <a:off x="2788920" y="4873752"/>
            <a:ext cx="5212080" cy="320040"/>
          </a:xfrm>
          <a:prstGeom prst="rect">
            <a:avLst/>
          </a:prstGeom>
          <a:noFill/>
        </p:spPr>
        <p:txBody>
          <a:bodyPr wrap="square">
            <a:spAutoFit/>
          </a:bodyPr>
          <a:lstStyle/>
          <a:p>
            <a:pPr algn="l"/>
            <a:r>
              <a:rPr sz="1100" b="0" i="0">
                <a:solidFill>
                  <a:srgbClr val="237EAB"/>
                </a:solidFill>
                <a:latin typeface="Aptos"/>
              </a:rPr>
              <a:t>PRACTICE  How does distant artillery affect Salva?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4 · MEMORIZE</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New Words: Part 2</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11 of 15</a:t>
            </a:r>
          </a:p>
        </p:txBody>
      </p:sp>
      <p:sp>
        <p:nvSpPr>
          <p:cNvPr id="7" name="Rounded Rectangle 6"/>
          <p:cNvSpPr/>
          <p:nvPr/>
        </p:nvSpPr>
        <p:spPr>
          <a:xfrm>
            <a:off x="685800" y="1965960"/>
            <a:ext cx="457200" cy="45720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75688"/>
            <a:ext cx="457200" cy="182880"/>
          </a:xfrm>
          <a:prstGeom prst="rect">
            <a:avLst/>
          </a:prstGeom>
          <a:noFill/>
        </p:spPr>
        <p:txBody>
          <a:bodyPr wrap="square">
            <a:spAutoFit/>
          </a:bodyPr>
          <a:lstStyle/>
          <a:p>
            <a:pPr algn="ctr"/>
            <a:r>
              <a:rPr sz="1200" b="1" i="0">
                <a:solidFill>
                  <a:srgbClr val="FFFFFF"/>
                </a:solidFill>
                <a:latin typeface="Aptos"/>
              </a:rPr>
              <a:t>D</a:t>
            </a:r>
          </a:p>
        </p:txBody>
      </p:sp>
      <p:sp>
        <p:nvSpPr>
          <p:cNvPr id="9" name="TextBox 8"/>
          <p:cNvSpPr txBox="1"/>
          <p:nvPr/>
        </p:nvSpPr>
        <p:spPr>
          <a:xfrm>
            <a:off x="1325880" y="1965960"/>
            <a:ext cx="1554480" cy="274320"/>
          </a:xfrm>
          <a:prstGeom prst="rect">
            <a:avLst/>
          </a:prstGeom>
          <a:noFill/>
        </p:spPr>
        <p:txBody>
          <a:bodyPr wrap="square">
            <a:spAutoFit/>
          </a:bodyPr>
          <a:lstStyle/>
          <a:p>
            <a:pPr algn="l"/>
            <a:r>
              <a:rPr sz="1800" b="1" i="0">
                <a:solidFill>
                  <a:srgbClr val="3E2E23"/>
                </a:solidFill>
                <a:latin typeface="Aptos"/>
              </a:rPr>
              <a:t>Determined</a:t>
            </a:r>
          </a:p>
        </p:txBody>
      </p:sp>
      <p:sp>
        <p:nvSpPr>
          <p:cNvPr id="10" name="TextBox 9"/>
          <p:cNvSpPr txBox="1"/>
          <p:nvPr/>
        </p:nvSpPr>
        <p:spPr>
          <a:xfrm>
            <a:off x="2788920" y="1965960"/>
            <a:ext cx="5212080" cy="320040"/>
          </a:xfrm>
          <a:prstGeom prst="rect">
            <a:avLst/>
          </a:prstGeom>
          <a:noFill/>
        </p:spPr>
        <p:txBody>
          <a:bodyPr wrap="square">
            <a:spAutoFit/>
          </a:bodyPr>
          <a:lstStyle/>
          <a:p>
            <a:pPr algn="l"/>
            <a:r>
              <a:rPr sz="1400" b="0" i="0">
                <a:solidFill>
                  <a:srgbClr val="2A2622"/>
                </a:solidFill>
                <a:latin typeface="Aptos"/>
              </a:rPr>
              <a:t>firmly decided to do something</a:t>
            </a:r>
          </a:p>
        </p:txBody>
      </p:sp>
      <p:sp>
        <p:nvSpPr>
          <p:cNvPr id="11" name="TextBox 10"/>
          <p:cNvSpPr txBox="1"/>
          <p:nvPr/>
        </p:nvSpPr>
        <p:spPr>
          <a:xfrm>
            <a:off x="2788920" y="2404872"/>
            <a:ext cx="5212080" cy="502920"/>
          </a:xfrm>
          <a:prstGeom prst="rect">
            <a:avLst/>
          </a:prstGeom>
          <a:noFill/>
        </p:spPr>
        <p:txBody>
          <a:bodyPr wrap="square">
            <a:spAutoFit/>
          </a:bodyPr>
          <a:lstStyle/>
          <a:p>
            <a:pPr algn="l"/>
            <a:r>
              <a:rPr sz="1100" b="0" i="0">
                <a:solidFill>
                  <a:srgbClr val="237EAB"/>
                </a:solidFill>
                <a:latin typeface="Aptos"/>
              </a:rPr>
              <a:t>PRACTICE  How is Salva determined not to become a burden?</a:t>
            </a:r>
          </a:p>
        </p:txBody>
      </p:sp>
      <p:sp>
        <p:nvSpPr>
          <p:cNvPr id="12" name="Rounded Rectangle 11"/>
          <p:cNvSpPr/>
          <p:nvPr/>
        </p:nvSpPr>
        <p:spPr>
          <a:xfrm>
            <a:off x="685800" y="3657600"/>
            <a:ext cx="457200" cy="457200"/>
          </a:xfrm>
          <a:prstGeom prst="roundRect">
            <a:avLst/>
          </a:prstGeom>
          <a:solidFill>
            <a:srgbClr val="237EAB"/>
          </a:solidFill>
          <a:ln>
            <a:solidFill>
              <a:srgbClr val="237E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767328"/>
            <a:ext cx="457200" cy="182880"/>
          </a:xfrm>
          <a:prstGeom prst="rect">
            <a:avLst/>
          </a:prstGeom>
          <a:noFill/>
        </p:spPr>
        <p:txBody>
          <a:bodyPr wrap="square">
            <a:spAutoFit/>
          </a:bodyPr>
          <a:lstStyle/>
          <a:p>
            <a:pPr algn="ctr"/>
            <a:r>
              <a:rPr sz="1200" b="1" i="0">
                <a:solidFill>
                  <a:srgbClr val="FFFFFF"/>
                </a:solidFill>
                <a:latin typeface="Aptos"/>
              </a:rPr>
              <a:t>T</a:t>
            </a:r>
          </a:p>
        </p:txBody>
      </p:sp>
      <p:sp>
        <p:nvSpPr>
          <p:cNvPr id="14" name="TextBox 13"/>
          <p:cNvSpPr txBox="1"/>
          <p:nvPr/>
        </p:nvSpPr>
        <p:spPr>
          <a:xfrm>
            <a:off x="1325880" y="3657600"/>
            <a:ext cx="1554480" cy="274320"/>
          </a:xfrm>
          <a:prstGeom prst="rect">
            <a:avLst/>
          </a:prstGeom>
          <a:noFill/>
        </p:spPr>
        <p:txBody>
          <a:bodyPr wrap="square">
            <a:spAutoFit/>
          </a:bodyPr>
          <a:lstStyle/>
          <a:p>
            <a:pPr algn="l"/>
            <a:r>
              <a:rPr sz="1800" b="1" i="0">
                <a:solidFill>
                  <a:srgbClr val="3E2E23"/>
                </a:solidFill>
                <a:latin typeface="Aptos"/>
              </a:rPr>
              <a:t>Terrain</a:t>
            </a:r>
          </a:p>
        </p:txBody>
      </p:sp>
      <p:sp>
        <p:nvSpPr>
          <p:cNvPr id="15" name="TextBox 14"/>
          <p:cNvSpPr txBox="1"/>
          <p:nvPr/>
        </p:nvSpPr>
        <p:spPr>
          <a:xfrm>
            <a:off x="2788920" y="3657600"/>
            <a:ext cx="5212080" cy="320040"/>
          </a:xfrm>
          <a:prstGeom prst="rect">
            <a:avLst/>
          </a:prstGeom>
          <a:noFill/>
        </p:spPr>
        <p:txBody>
          <a:bodyPr wrap="square">
            <a:spAutoFit/>
          </a:bodyPr>
          <a:lstStyle/>
          <a:p>
            <a:pPr algn="l"/>
            <a:r>
              <a:rPr sz="1400" b="0" i="0">
                <a:solidFill>
                  <a:srgbClr val="2A2622"/>
                </a:solidFill>
                <a:latin typeface="Aptos"/>
              </a:rPr>
              <a:t>the physical features of an area of land</a:t>
            </a:r>
          </a:p>
        </p:txBody>
      </p:sp>
      <p:sp>
        <p:nvSpPr>
          <p:cNvPr id="16" name="TextBox 15"/>
          <p:cNvSpPr txBox="1"/>
          <p:nvPr/>
        </p:nvSpPr>
        <p:spPr>
          <a:xfrm>
            <a:off x="2788920" y="4096512"/>
            <a:ext cx="5212080" cy="502920"/>
          </a:xfrm>
          <a:prstGeom prst="rect">
            <a:avLst/>
          </a:prstGeom>
          <a:noFill/>
        </p:spPr>
        <p:txBody>
          <a:bodyPr wrap="square">
            <a:spAutoFit/>
          </a:bodyPr>
          <a:lstStyle/>
          <a:p>
            <a:pPr algn="l"/>
            <a:r>
              <a:rPr sz="1100" b="0" i="0">
                <a:solidFill>
                  <a:srgbClr val="237EAB"/>
                </a:solidFill>
                <a:latin typeface="Aptos"/>
              </a:rPr>
              <a:t>PRACTICE  How does the terrain change during the journey?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5 · TEST</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Quick Check</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12 of 15</a:t>
            </a:r>
          </a:p>
        </p:txBody>
      </p:sp>
      <p:sp>
        <p:nvSpPr>
          <p:cNvPr id="7" name="TextBox 6"/>
          <p:cNvSpPr txBox="1"/>
          <p:nvPr/>
        </p:nvSpPr>
        <p:spPr>
          <a:xfrm>
            <a:off x="594360" y="1691640"/>
            <a:ext cx="3749039" cy="274320"/>
          </a:xfrm>
          <a:prstGeom prst="rect">
            <a:avLst/>
          </a:prstGeom>
          <a:noFill/>
        </p:spPr>
        <p:txBody>
          <a:bodyPr wrap="square">
            <a:spAutoFit/>
          </a:bodyPr>
          <a:lstStyle/>
          <a:p>
            <a:pPr algn="l"/>
            <a:r>
              <a:rPr sz="1200" b="1" i="0">
                <a:solidFill>
                  <a:srgbClr val="3E2E23"/>
                </a:solidFill>
                <a:latin typeface="Aptos"/>
              </a:rPr>
              <a:t>PART A — Vocabulary</a:t>
            </a:r>
          </a:p>
        </p:txBody>
      </p:sp>
      <p:sp>
        <p:nvSpPr>
          <p:cNvPr id="8" name="TextBox 7"/>
          <p:cNvSpPr txBox="1"/>
          <p:nvPr/>
        </p:nvSpPr>
        <p:spPr>
          <a:xfrm>
            <a:off x="594360" y="2011680"/>
            <a:ext cx="7680960" cy="1097280"/>
          </a:xfrm>
          <a:prstGeom prst="rect">
            <a:avLst/>
          </a:prstGeom>
          <a:noFill/>
        </p:spPr>
        <p:txBody>
          <a:bodyPr wrap="square">
            <a:spAutoFit/>
          </a:bodyPr>
          <a:lstStyle/>
          <a:p>
            <a:pPr algn="l"/>
            <a:r>
              <a:rPr sz="1300" b="0" i="0">
                <a:solidFill>
                  <a:srgbClr val="2A2622"/>
                </a:solidFill>
                <a:latin typeface="Aptos"/>
              </a:rPr>
              <a:t>1. Ritual means — (a) traditional practice  (b) accident  (c) argument
2. Uncertainty means — (a) confidence  (b) not knowing  (c) hunger
3. Determined means — (a) firmly decided  (b) confused  (c) weak</a:t>
            </a:r>
          </a:p>
        </p:txBody>
      </p:sp>
      <p:sp>
        <p:nvSpPr>
          <p:cNvPr id="9" name="TextBox 8"/>
          <p:cNvSpPr txBox="1"/>
          <p:nvPr/>
        </p:nvSpPr>
        <p:spPr>
          <a:xfrm>
            <a:off x="594360" y="3246120"/>
            <a:ext cx="3749039" cy="274320"/>
          </a:xfrm>
          <a:prstGeom prst="rect">
            <a:avLst/>
          </a:prstGeom>
          <a:noFill/>
        </p:spPr>
        <p:txBody>
          <a:bodyPr wrap="square">
            <a:spAutoFit/>
          </a:bodyPr>
          <a:lstStyle/>
          <a:p>
            <a:pPr algn="l"/>
            <a:r>
              <a:rPr sz="1200" b="1" i="0">
                <a:solidFill>
                  <a:srgbClr val="3E2E23"/>
                </a:solidFill>
                <a:latin typeface="Aptos"/>
              </a:rPr>
              <a:t>PART B — Fill in the blank</a:t>
            </a:r>
          </a:p>
        </p:txBody>
      </p:sp>
      <p:sp>
        <p:nvSpPr>
          <p:cNvPr id="10" name="TextBox 9"/>
          <p:cNvSpPr txBox="1"/>
          <p:nvPr/>
        </p:nvSpPr>
        <p:spPr>
          <a:xfrm>
            <a:off x="594360" y="3566160"/>
            <a:ext cx="7680960" cy="777240"/>
          </a:xfrm>
          <a:prstGeom prst="rect">
            <a:avLst/>
          </a:prstGeom>
          <a:noFill/>
        </p:spPr>
        <p:txBody>
          <a:bodyPr wrap="square">
            <a:spAutoFit/>
          </a:bodyPr>
          <a:lstStyle/>
          <a:p>
            <a:pPr algn="l"/>
            <a:r>
              <a:rPr sz="1300" b="0" i="0">
                <a:solidFill>
                  <a:srgbClr val="2A2622"/>
                </a:solidFill>
                <a:latin typeface="Aptos"/>
              </a:rPr>
              <a:t>4. The distant sound of __________ reminded Salva that the fighting was still nearby.
5. The __________ changed from scrub to woodland.</a:t>
            </a:r>
          </a:p>
        </p:txBody>
      </p:sp>
      <p:sp>
        <p:nvSpPr>
          <p:cNvPr id="11" name="TextBox 10"/>
          <p:cNvSpPr txBox="1"/>
          <p:nvPr/>
        </p:nvSpPr>
        <p:spPr>
          <a:xfrm>
            <a:off x="594360" y="4526280"/>
            <a:ext cx="3749039" cy="274320"/>
          </a:xfrm>
          <a:prstGeom prst="rect">
            <a:avLst/>
          </a:prstGeom>
          <a:noFill/>
        </p:spPr>
        <p:txBody>
          <a:bodyPr wrap="square">
            <a:spAutoFit/>
          </a:bodyPr>
          <a:lstStyle/>
          <a:p>
            <a:pPr algn="l"/>
            <a:r>
              <a:rPr sz="1200" b="1" i="0">
                <a:solidFill>
                  <a:srgbClr val="3E2E23"/>
                </a:solidFill>
                <a:latin typeface="Aptos"/>
              </a:rPr>
              <a:t>PART C — Short Answer</a:t>
            </a:r>
          </a:p>
        </p:txBody>
      </p:sp>
      <p:sp>
        <p:nvSpPr>
          <p:cNvPr id="12" name="TextBox 11"/>
          <p:cNvSpPr txBox="1"/>
          <p:nvPr/>
        </p:nvSpPr>
        <p:spPr>
          <a:xfrm>
            <a:off x="594360" y="4846320"/>
            <a:ext cx="7680960" cy="1005840"/>
          </a:xfrm>
          <a:prstGeom prst="rect">
            <a:avLst/>
          </a:prstGeom>
          <a:noFill/>
        </p:spPr>
        <p:txBody>
          <a:bodyPr wrap="square">
            <a:spAutoFit/>
          </a:bodyPr>
          <a:lstStyle/>
          <a:p>
            <a:pPr algn="l"/>
            <a:r>
              <a:rPr sz="1300" b="0" i="0">
                <a:solidFill>
                  <a:srgbClr val="2A2622"/>
                </a:solidFill>
                <a:latin typeface="Aptos"/>
              </a:rPr>
              <a:t>6. Why does the old woman refuse to let Salva travel with her?
7. Why does the Dinka group finally agree to take Salva?
8. What does Buksa’s discovery of the beehive show about survival skills?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6 · WRAP-UP</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Short Writing</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13 of 15</a:t>
            </a:r>
          </a:p>
        </p:txBody>
      </p:sp>
      <p:sp>
        <p:nvSpPr>
          <p:cNvPr id="7" name="TextBox 6"/>
          <p:cNvSpPr txBox="1"/>
          <p:nvPr/>
        </p:nvSpPr>
        <p:spPr>
          <a:xfrm>
            <a:off x="594360" y="1737360"/>
            <a:ext cx="1097280" cy="182880"/>
          </a:xfrm>
          <a:prstGeom prst="rect">
            <a:avLst/>
          </a:prstGeom>
          <a:noFill/>
        </p:spPr>
        <p:txBody>
          <a:bodyPr wrap="square">
            <a:spAutoFit/>
          </a:bodyPr>
          <a:lstStyle/>
          <a:p>
            <a:pPr algn="l"/>
            <a:r>
              <a:rPr sz="1000" b="1" i="0">
                <a:solidFill>
                  <a:srgbClr val="69635B"/>
                </a:solidFill>
                <a:latin typeface="Aptos"/>
              </a:rPr>
              <a:t>~5 min</a:t>
            </a:r>
          </a:p>
        </p:txBody>
      </p:sp>
      <p:sp>
        <p:nvSpPr>
          <p:cNvPr id="8" name="Rounded Rectangle 7"/>
          <p:cNvSpPr/>
          <p:nvPr/>
        </p:nvSpPr>
        <p:spPr>
          <a:xfrm>
            <a:off x="594360" y="2148840"/>
            <a:ext cx="7726679" cy="960120"/>
          </a:xfrm>
          <a:prstGeom prst="roundRect">
            <a:avLst/>
          </a:prstGeom>
          <a:solidFill>
            <a:srgbClr val="FFFFFF"/>
          </a:solidFill>
          <a:ln>
            <a:solidFill>
              <a:srgbClr val="E1D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95728"/>
            <a:ext cx="7223760" cy="457200"/>
          </a:xfrm>
          <a:prstGeom prst="rect">
            <a:avLst/>
          </a:prstGeom>
          <a:noFill/>
        </p:spPr>
        <p:txBody>
          <a:bodyPr wrap="square">
            <a:spAutoFit/>
          </a:bodyPr>
          <a:lstStyle/>
          <a:p>
            <a:pPr algn="l"/>
            <a:r>
              <a:rPr sz="2000" b="1" i="0">
                <a:solidFill>
                  <a:srgbClr val="3E2E23"/>
                </a:solidFill>
                <a:latin typeface="Georgia"/>
              </a:rPr>
              <a:t>How does Salva begin to change after he is left alone?</a:t>
            </a:r>
          </a:p>
        </p:txBody>
      </p:sp>
      <p:sp>
        <p:nvSpPr>
          <p:cNvPr id="10" name="TextBox 9"/>
          <p:cNvSpPr txBox="1"/>
          <p:nvPr/>
        </p:nvSpPr>
        <p:spPr>
          <a:xfrm>
            <a:off x="777240" y="3520440"/>
            <a:ext cx="7223760" cy="320040"/>
          </a:xfrm>
          <a:prstGeom prst="rect">
            <a:avLst/>
          </a:prstGeom>
          <a:noFill/>
        </p:spPr>
        <p:txBody>
          <a:bodyPr wrap="square">
            <a:spAutoFit/>
          </a:bodyPr>
          <a:lstStyle/>
          <a:p>
            <a:pPr algn="l"/>
            <a:r>
              <a:rPr sz="1500" b="0" i="0">
                <a:solidFill>
                  <a:srgbClr val="2A2622"/>
                </a:solidFill>
                <a:latin typeface="Aptos"/>
              </a:rPr>
              <a:t>1   Salva begins to change because __________.</a:t>
            </a:r>
          </a:p>
        </p:txBody>
      </p:sp>
      <p:sp>
        <p:nvSpPr>
          <p:cNvPr id="11" name="TextBox 10"/>
          <p:cNvSpPr txBox="1"/>
          <p:nvPr/>
        </p:nvSpPr>
        <p:spPr>
          <a:xfrm>
            <a:off x="777240" y="4160520"/>
            <a:ext cx="7223760" cy="320040"/>
          </a:xfrm>
          <a:prstGeom prst="rect">
            <a:avLst/>
          </a:prstGeom>
          <a:noFill/>
        </p:spPr>
        <p:txBody>
          <a:bodyPr wrap="square">
            <a:spAutoFit/>
          </a:bodyPr>
          <a:lstStyle/>
          <a:p>
            <a:pPr algn="l"/>
            <a:r>
              <a:rPr sz="1500" b="0" i="0">
                <a:solidFill>
                  <a:srgbClr val="2A2622"/>
                </a:solidFill>
                <a:latin typeface="Aptos"/>
              </a:rPr>
              <a:t>2   One important example is __________.</a:t>
            </a:r>
          </a:p>
        </p:txBody>
      </p:sp>
      <p:sp>
        <p:nvSpPr>
          <p:cNvPr id="12" name="TextBox 11"/>
          <p:cNvSpPr txBox="1"/>
          <p:nvPr/>
        </p:nvSpPr>
        <p:spPr>
          <a:xfrm>
            <a:off x="777240" y="4800600"/>
            <a:ext cx="7223760" cy="320040"/>
          </a:xfrm>
          <a:prstGeom prst="rect">
            <a:avLst/>
          </a:prstGeom>
          <a:noFill/>
        </p:spPr>
        <p:txBody>
          <a:bodyPr wrap="square">
            <a:spAutoFit/>
          </a:bodyPr>
          <a:lstStyle/>
          <a:p>
            <a:pPr algn="l"/>
            <a:r>
              <a:rPr sz="1500" b="0" i="0">
                <a:solidFill>
                  <a:srgbClr val="2A2622"/>
                </a:solidFill>
                <a:latin typeface="Aptos"/>
              </a:rPr>
              <a:t>3   This shows that he is becoming more 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Rounded Rectangle 1"/>
          <p:cNvSpPr/>
          <p:nvPr/>
        </p:nvSpPr>
        <p:spPr>
          <a:xfrm>
            <a:off x="411480" y="320040"/>
            <a:ext cx="1508760" cy="347472"/>
          </a:xfrm>
          <a:prstGeom prst="roundRect">
            <a:avLst/>
          </a:prstGeom>
          <a:solidFill>
            <a:srgbClr val="3E2E23"/>
          </a:solidFill>
          <a:ln>
            <a:solidFill>
              <a:srgbClr val="3E2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325880" cy="182880"/>
          </a:xfrm>
          <a:prstGeom prst="rect">
            <a:avLst/>
          </a:prstGeom>
          <a:noFill/>
        </p:spPr>
        <p:txBody>
          <a:bodyPr wrap="square">
            <a:spAutoFit/>
          </a:bodyPr>
          <a:lstStyle/>
          <a:p>
            <a:pPr algn="ctr"/>
            <a:r>
              <a:rPr sz="900" b="1" i="0">
                <a:solidFill>
                  <a:srgbClr val="FFFFFF"/>
                </a:solidFill>
                <a:latin typeface="Aptos"/>
              </a:rPr>
              <a:t>6 · WRAP-UP</a:t>
            </a:r>
          </a:p>
        </p:txBody>
      </p:sp>
      <p:sp>
        <p:nvSpPr>
          <p:cNvPr id="4" name="TextBox 3"/>
          <p:cNvSpPr txBox="1"/>
          <p:nvPr/>
        </p:nvSpPr>
        <p:spPr>
          <a:xfrm>
            <a:off x="411480" y="841248"/>
            <a:ext cx="8046720" cy="502920"/>
          </a:xfrm>
          <a:prstGeom prst="rect">
            <a:avLst/>
          </a:prstGeom>
          <a:noFill/>
        </p:spPr>
        <p:txBody>
          <a:bodyPr wrap="square">
            <a:spAutoFit/>
          </a:bodyPr>
          <a:lstStyle/>
          <a:p>
            <a:pPr algn="l"/>
            <a:r>
              <a:rPr sz="2700" b="1" i="0">
                <a:solidFill>
                  <a:srgbClr val="3E2E23"/>
                </a:solidFill>
                <a:latin typeface="Georgia"/>
              </a:rPr>
              <a:t>Exit Ticket</a:t>
            </a:r>
          </a:p>
        </p:txBody>
      </p:sp>
      <p:sp>
        <p:nvSpPr>
          <p:cNvPr id="5" name="Rectangle 4"/>
          <p:cNvSpPr/>
          <p:nvPr/>
        </p:nvSpPr>
        <p:spPr>
          <a:xfrm>
            <a:off x="411480" y="1417320"/>
            <a:ext cx="8321040" cy="13716"/>
          </a:xfrm>
          <a:prstGeom prst="rect">
            <a:avLst/>
          </a:prstGeom>
          <a:solidFill>
            <a:srgbClr val="DA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473952"/>
            <a:ext cx="2377440" cy="164592"/>
          </a:xfrm>
          <a:prstGeom prst="rect">
            <a:avLst/>
          </a:prstGeom>
          <a:noFill/>
        </p:spPr>
        <p:txBody>
          <a:bodyPr wrap="square">
            <a:spAutoFit/>
          </a:bodyPr>
          <a:lstStyle/>
          <a:p>
            <a:pPr algn="l"/>
            <a:r>
              <a:rPr sz="800" b="0" i="0">
                <a:solidFill>
                  <a:srgbClr val="69635B"/>
                </a:solidFill>
                <a:latin typeface="Aptos"/>
              </a:rPr>
              <a:t>Session 2 · Slide 14 of 15</a:t>
            </a:r>
          </a:p>
        </p:txBody>
      </p:sp>
      <p:sp>
        <p:nvSpPr>
          <p:cNvPr id="7" name="Rounded Rectangle 6"/>
          <p:cNvSpPr/>
          <p:nvPr/>
        </p:nvSpPr>
        <p:spPr>
          <a:xfrm>
            <a:off x="640080" y="1828800"/>
            <a:ext cx="7635240" cy="1325880"/>
          </a:xfrm>
          <a:prstGeom prst="roundRect">
            <a:avLst/>
          </a:prstGeom>
          <a:solidFill>
            <a:srgbClr val="FFFFFF"/>
          </a:solidFill>
          <a:ln>
            <a:solidFill>
              <a:srgbClr val="E1D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03120"/>
            <a:ext cx="7132320" cy="685800"/>
          </a:xfrm>
          <a:prstGeom prst="rect">
            <a:avLst/>
          </a:prstGeom>
          <a:noFill/>
        </p:spPr>
        <p:txBody>
          <a:bodyPr wrap="square">
            <a:spAutoFit/>
          </a:bodyPr>
          <a:lstStyle/>
          <a:p>
            <a:pPr algn="l"/>
            <a:r>
              <a:rPr sz="1900" b="1" i="0">
                <a:solidFill>
                  <a:srgbClr val="3E2E23"/>
                </a:solidFill>
                <a:latin typeface="Georgia"/>
              </a:rPr>
              <a:t>Describe one challenge faced by Nya and one challenge faced by Salva. Use one new vocabulary word in your answer.</a:t>
            </a:r>
          </a:p>
        </p:txBody>
      </p:sp>
      <p:sp>
        <p:nvSpPr>
          <p:cNvPr id="9" name="TextBox 8"/>
          <p:cNvSpPr txBox="1"/>
          <p:nvPr/>
        </p:nvSpPr>
        <p:spPr>
          <a:xfrm>
            <a:off x="685800" y="3703320"/>
            <a:ext cx="1828800" cy="228600"/>
          </a:xfrm>
          <a:prstGeom prst="rect">
            <a:avLst/>
          </a:prstGeom>
          <a:noFill/>
        </p:spPr>
        <p:txBody>
          <a:bodyPr wrap="square">
            <a:spAutoFit/>
          </a:bodyPr>
          <a:lstStyle/>
          <a:p>
            <a:pPr algn="l"/>
            <a:r>
              <a:rPr sz="1100" b="1" i="0">
                <a:solidFill>
                  <a:srgbClr val="237EAB"/>
                </a:solidFill>
                <a:latin typeface="Aptos"/>
              </a:rPr>
              <a:t>H O M E W O R K</a:t>
            </a:r>
          </a:p>
        </p:txBody>
      </p:sp>
      <p:sp>
        <p:nvSpPr>
          <p:cNvPr id="10" name="TextBox 9"/>
          <p:cNvSpPr txBox="1"/>
          <p:nvPr/>
        </p:nvSpPr>
        <p:spPr>
          <a:xfrm>
            <a:off x="685800" y="4069080"/>
            <a:ext cx="7223760" cy="1005840"/>
          </a:xfrm>
          <a:prstGeom prst="rect">
            <a:avLst/>
          </a:prstGeom>
          <a:noFill/>
        </p:spPr>
        <p:txBody>
          <a:bodyPr wrap="square">
            <a:spAutoFit/>
          </a:bodyPr>
          <a:lstStyle/>
          <a:p>
            <a:pPr algn="l"/>
            <a:r>
              <a:rPr sz="1500" b="0" i="0">
                <a:solidFill>
                  <a:srgbClr val="2A2622"/>
                </a:solidFill>
                <a:latin typeface="Aptos"/>
              </a:rPr>
              <a:t>• Read Chapter 5
• Write three original sentences using today’s vocabulary
• Bring one question about Salva’s journey or Nya’s water routine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p:sp>
        <p:nvSpPr>
          <p:cNvPr id="2" name="TextBox 1"/>
          <p:cNvSpPr txBox="1"/>
          <p:nvPr/>
        </p:nvSpPr>
        <p:spPr>
          <a:xfrm>
            <a:off x="731520" y="2057400"/>
            <a:ext cx="7680960" cy="320040"/>
          </a:xfrm>
          <a:prstGeom prst="rect">
            <a:avLst/>
          </a:prstGeom>
          <a:noFill/>
        </p:spPr>
        <p:txBody>
          <a:bodyPr wrap="square">
            <a:spAutoFit/>
          </a:bodyPr>
          <a:lstStyle/>
          <a:p>
            <a:pPr algn="ctr"/>
            <a:r>
              <a:rPr sz="1200" b="1" i="0">
                <a:solidFill>
                  <a:srgbClr val="69635B"/>
                </a:solidFill>
                <a:latin typeface="Aptos"/>
              </a:rPr>
              <a:t>S E E  Y O U  N E X T  S E S S I O N</a:t>
            </a:r>
          </a:p>
        </p:txBody>
      </p:sp>
      <p:sp>
        <p:nvSpPr>
          <p:cNvPr id="3" name="TextBox 2"/>
          <p:cNvSpPr txBox="1"/>
          <p:nvPr/>
        </p:nvSpPr>
        <p:spPr>
          <a:xfrm>
            <a:off x="731520" y="2788920"/>
            <a:ext cx="7680960" cy="594360"/>
          </a:xfrm>
          <a:prstGeom prst="rect">
            <a:avLst/>
          </a:prstGeom>
          <a:noFill/>
        </p:spPr>
        <p:txBody>
          <a:bodyPr wrap="square">
            <a:spAutoFit/>
          </a:bodyPr>
          <a:lstStyle/>
          <a:p>
            <a:pPr algn="ctr"/>
            <a:r>
              <a:rPr sz="2800" b="1" i="0">
                <a:solidFill>
                  <a:srgbClr val="3E2E23"/>
                </a:solidFill>
                <a:latin typeface="Georgia"/>
              </a:rPr>
              <a:t>Chapter 5 — Hunger, Honey, and Survival</a:t>
            </a:r>
          </a:p>
        </p:txBody>
      </p:sp>
      <p:sp>
        <p:nvSpPr>
          <p:cNvPr id="4" name="TextBox 3"/>
          <p:cNvSpPr txBox="1"/>
          <p:nvPr/>
        </p:nvSpPr>
        <p:spPr>
          <a:xfrm>
            <a:off x="731520" y="3657600"/>
            <a:ext cx="7680960" cy="411480"/>
          </a:xfrm>
          <a:prstGeom prst="rect">
            <a:avLst/>
          </a:prstGeom>
          <a:noFill/>
        </p:spPr>
        <p:txBody>
          <a:bodyPr wrap="square">
            <a:spAutoFit/>
          </a:bodyPr>
          <a:lstStyle/>
          <a:p>
            <a:pPr algn="ctr"/>
            <a:r>
              <a:rPr sz="1400" b="0" i="0">
                <a:solidFill>
                  <a:srgbClr val="237EAB"/>
                </a:solidFill>
                <a:latin typeface="Aptos"/>
              </a:rPr>
              <a:t>Bring your three sentences and your discussion question.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