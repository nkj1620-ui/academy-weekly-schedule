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298d263bd94698" /><Relationship Type="http://schemas.openxmlformats.org/officeDocument/2006/relationships/extended-properties" Target="/docProps/app.xml" Id="R6170fba1ee414fb0" /><Relationship Type="http://schemas.openxmlformats.org/officeDocument/2006/relationships/officeDocument" Target="/ppt/presentation.xml" Id="R7f0ead34258149c6" /></Relationships>
</file>

<file path=ppt/presentation.xml><?xml version="1.0" encoding="utf-8"?>
<p:presentation xmlns:p="http://schemas.openxmlformats.org/presentationml/2006/main">
  <p:sldMasterIdLst>
    <p:sldMasterId xmlns:r="http://schemas.openxmlformats.org/officeDocument/2006/relationships" id="2147483648" r:id="R4f9ca29b2b59404c"/>
  </p:sldMasterIdLst>
  <p:notesMasterIdLst>
    <p:notesMasterId xmlns:r="http://schemas.openxmlformats.org/officeDocument/2006/relationships" r:id="Rb1057f488f064699"/>
  </p:notesMasterIdLst>
  <p:sldIdLst>
    <p:sldId xmlns:r="http://schemas.openxmlformats.org/officeDocument/2006/relationships" id="256" r:id="Rfe54dd8617ff4750"/>
    <p:sldId xmlns:r="http://schemas.openxmlformats.org/officeDocument/2006/relationships" id="257" r:id="Rb5d8efea7422426e"/>
    <p:sldId xmlns:r="http://schemas.openxmlformats.org/officeDocument/2006/relationships" id="258" r:id="Rff016f79451043b4"/>
    <p:sldId xmlns:r="http://schemas.openxmlformats.org/officeDocument/2006/relationships" id="259" r:id="R6c08e7ae0b8846aa"/>
    <p:sldId xmlns:r="http://schemas.openxmlformats.org/officeDocument/2006/relationships" id="260" r:id="R487f07c07cd1413f"/>
    <p:sldId xmlns:r="http://schemas.openxmlformats.org/officeDocument/2006/relationships" id="261" r:id="Rb0fbf839244c41c9"/>
    <p:sldId xmlns:r="http://schemas.openxmlformats.org/officeDocument/2006/relationships" id="262" r:id="R13d56a2c72cc4c85"/>
    <p:sldId xmlns:r="http://schemas.openxmlformats.org/officeDocument/2006/relationships" id="263" r:id="Re311d8c74a154183"/>
    <p:sldId xmlns:r="http://schemas.openxmlformats.org/officeDocument/2006/relationships" id="264" r:id="R9141a127bbdf4df9"/>
    <p:sldId xmlns:r="http://schemas.openxmlformats.org/officeDocument/2006/relationships" id="265" r:id="R47f2561c588c4d2a"/>
    <p:sldId xmlns:r="http://schemas.openxmlformats.org/officeDocument/2006/relationships" id="266" r:id="R8f59fe08c8f74aac"/>
    <p:sldId xmlns:r="http://schemas.openxmlformats.org/officeDocument/2006/relationships" id="267" r:id="R286522ab53fe4c83"/>
    <p:sldId xmlns:r="http://schemas.openxmlformats.org/officeDocument/2006/relationships" id="268" r:id="R22f760ddef0e4bca"/>
    <p:sldId xmlns:r="http://schemas.openxmlformats.org/officeDocument/2006/relationships" id="269" r:id="R98c353fd61de4da1"/>
    <p:sldId xmlns:r="http://schemas.openxmlformats.org/officeDocument/2006/relationships" id="270" r:id="R843e9b3a1c4f45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b1a7022d884dc8" /><Relationship Type="http://schemas.openxmlformats.org/officeDocument/2006/relationships/slideMaster" Target="/ppt/slideMasters/slideMaster1.xml" Id="R4f9ca29b2b59404c" /><Relationship Type="http://schemas.openxmlformats.org/officeDocument/2006/relationships/notesMaster" Target="/ppt/notesMasters/notesMaster1.xml" Id="Rb1057f488f064699" /><Relationship Type="http://schemas.openxmlformats.org/officeDocument/2006/relationships/presProps" Target="/ppt/presProps.xml" Id="R55d564eb68af4788" /><Relationship Type="http://schemas.openxmlformats.org/officeDocument/2006/relationships/tableStyles" Target="/ppt/tableStyles.xml" Id="R4ead7d88234b4212" /><Relationship Type="http://schemas.openxmlformats.org/officeDocument/2006/relationships/slide" Target="/ppt/slides/slide1.xml" Id="Rfe54dd8617ff4750" /><Relationship Type="http://schemas.openxmlformats.org/officeDocument/2006/relationships/slide" Target="/ppt/slides/slide2.xml" Id="Rb5d8efea7422426e" /><Relationship Type="http://schemas.openxmlformats.org/officeDocument/2006/relationships/slide" Target="/ppt/slides/slide3.xml" Id="Rff016f79451043b4" /><Relationship Type="http://schemas.openxmlformats.org/officeDocument/2006/relationships/slide" Target="/ppt/slides/slide4.xml" Id="R6c08e7ae0b8846aa" /><Relationship Type="http://schemas.openxmlformats.org/officeDocument/2006/relationships/slide" Target="/ppt/slides/slide5.xml" Id="R487f07c07cd1413f" /><Relationship Type="http://schemas.openxmlformats.org/officeDocument/2006/relationships/slide" Target="/ppt/slides/slide6.xml" Id="Rb0fbf839244c41c9" /><Relationship Type="http://schemas.openxmlformats.org/officeDocument/2006/relationships/slide" Target="/ppt/slides/slide7.xml" Id="R13d56a2c72cc4c85" /><Relationship Type="http://schemas.openxmlformats.org/officeDocument/2006/relationships/slide" Target="/ppt/slides/slide8.xml" Id="Re311d8c74a154183" /><Relationship Type="http://schemas.openxmlformats.org/officeDocument/2006/relationships/slide" Target="/ppt/slides/slide9.xml" Id="R9141a127bbdf4df9" /><Relationship Type="http://schemas.openxmlformats.org/officeDocument/2006/relationships/slide" Target="/ppt/slides/slide10.xml" Id="R47f2561c588c4d2a" /><Relationship Type="http://schemas.openxmlformats.org/officeDocument/2006/relationships/slide" Target="/ppt/slides/slide11.xml" Id="R8f59fe08c8f74aac" /><Relationship Type="http://schemas.openxmlformats.org/officeDocument/2006/relationships/slide" Target="/ppt/slides/slide12.xml" Id="R286522ab53fe4c83" /><Relationship Type="http://schemas.openxmlformats.org/officeDocument/2006/relationships/slide" Target="/ppt/slides/slide13.xml" Id="R22f760ddef0e4bca" /><Relationship Type="http://schemas.openxmlformats.org/officeDocument/2006/relationships/slide" Target="/ppt/slides/slide14.xml" Id="R98c353fd61de4da1" /><Relationship Type="http://schemas.openxmlformats.org/officeDocument/2006/relationships/slide" Target="/ppt/slides/slide15.xml" Id="R843e9b3a1c4f45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a8d011c81f4a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f5f2beb4df44c6" /><Relationship Type="http://schemas.openxmlformats.org/officeDocument/2006/relationships/notesMaster" Target="/ppt/notesMasters/notesMaster1.xml" Id="Rce874498bee04c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0ada099d75402f" /><Relationship Type="http://schemas.openxmlformats.org/officeDocument/2006/relationships/notesMaster" Target="/ppt/notesMasters/notesMaster1.xml" Id="R22281968f9ed45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ecacbe8cf24ba8" /><Relationship Type="http://schemas.openxmlformats.org/officeDocument/2006/relationships/notesMaster" Target="/ppt/notesMasters/notesMaster1.xml" Id="Rc3dfa826cb0748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bce9d9941348d4" /><Relationship Type="http://schemas.openxmlformats.org/officeDocument/2006/relationships/notesMaster" Target="/ppt/notesMasters/notesMaster1.xml" Id="Rebbd3fb09ef24b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934c47c95548c5" /><Relationship Type="http://schemas.openxmlformats.org/officeDocument/2006/relationships/notesMaster" Target="/ppt/notesMasters/notesMaster1.xml" Id="R63082d169a7745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48b66c64244bea" /><Relationship Type="http://schemas.openxmlformats.org/officeDocument/2006/relationships/notesMaster" Target="/ppt/notesMasters/notesMaster1.xml" Id="R846b4c9d0cbd46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61231dfc06444e" /><Relationship Type="http://schemas.openxmlformats.org/officeDocument/2006/relationships/notesMaster" Target="/ppt/notesMasters/notesMaster1.xml" Id="R13675f1571fc41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d67c40abc84cf3" /><Relationship Type="http://schemas.openxmlformats.org/officeDocument/2006/relationships/notesMaster" Target="/ppt/notesMasters/notesMaster1.xml" Id="R88bf6ba3dbf14f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755b26ad44462d" /><Relationship Type="http://schemas.openxmlformats.org/officeDocument/2006/relationships/notesMaster" Target="/ppt/notesMasters/notesMaster1.xml" Id="R75232d3a53c644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0cc6e8d2fa45c5" /><Relationship Type="http://schemas.openxmlformats.org/officeDocument/2006/relationships/notesMaster" Target="/ppt/notesMasters/notesMaster1.xml" Id="R0ec3d7f2fbce40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879d27469141b0" /><Relationship Type="http://schemas.openxmlformats.org/officeDocument/2006/relationships/notesMaster" Target="/ppt/notesMasters/notesMaster1.xml" Id="R83e3a8c269ea45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450e3f85c44409" /><Relationship Type="http://schemas.openxmlformats.org/officeDocument/2006/relationships/notesMaster" Target="/ppt/notesMasters/notesMaster1.xml" Id="Rfdc6365ec9c044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5019a34fef43c6" /><Relationship Type="http://schemas.openxmlformats.org/officeDocument/2006/relationships/notesMaster" Target="/ppt/notesMasters/notesMaster1.xml" Id="Rf925710c931949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b69391b6784dcb" /><Relationship Type="http://schemas.openxmlformats.org/officeDocument/2006/relationships/notesMaster" Target="/ppt/notesMasters/notesMaster1.xml" Id="R7e3b247f5f674a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907226e42b43b6" /><Relationship Type="http://schemas.openxmlformats.org/officeDocument/2006/relationships/notesMaster" Target="/ppt/notesMasters/notesMaster1.xml" Id="Rce6f93f3a1d54e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19:30–19:31 (1 min). Goal: explain how companionship helps Salva and compare the risks facing the two families. Read Chapters 5–6 before class. Sources: Linda Sue Park, A Long Walk to Water, user-provided PDF pp. 26–34. All scene descriptions are paraphrases. Stop at Chapter 6; do not reveal Chapter 7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19:31–19:33. Ask Yunjae to recall one detail without notes. Expected: honey gives energy and temporary relief from hunger. Source: Chapters 3–4, PDF pp. 17–25. Accept text-supported alternatives.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 briefly at 19:33; no separate time allocation. The scene discussion includes targeted rereading of selected passages, not reading both chapters aloud in full. Homework preparation: read Chapters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19:33–19:36. Reread Nya's Chapter 5 section. Answer: the water enters the hole very slowly, so even a small amount takes hours to collect. Note the family's five-month dry-season stay and conflict over land. Ask for one supporting detail. Source: PDF p.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19:36–19:38. Possible answer: even a little sweetness becomes precious when food is scarce. He values the taste and memory after the honey is gone. Avoid presenting the honey as a permanent solution. Source: PDF pp. 27–28.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19:38–19:40. Expected: companionship reduces loneliness and provides emotional encouragement. Their laughter supports this inference. Marial's claim about walking around the world is a child's reassurance, not a geographical plan. Source: PDF pp. 28–30.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19:40–19:42. Yes. Nya notices reduced walking; her mother focuses on discomfort and danger to loved ones. Refer to the novel's specific conflict rather than generalizing about whole communities. Source: PDF p.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19:42–19:45. Reread the reunion and promise. Help: a trusted relative, protection, leadership, food. Remaining problems: unknown family location, war, hunger, illness, dangerous travel. The novel connects the vomiting with haste after near starvation; avoid giving medical advice. Source: PDF pp. 32–33.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19:45–19:47. Expected inference: something serious has happened to Marial. Evidence: wailing, Uncle's apologies and serious face, Salva's fear. At the end of Chapter 6, the specific cause is not explicitly explained. Do not state a Chapter 7 revelation as a confirmed Chapter 6 event. Source: PDF p.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19:47–19:50. Say each word and have Yunjae repeat, then explain it in the scene. Answer: he hopes to find his family. Additional oral prompts: What seeps into the hole? Why touch a swollen eye gingerly? Sources: PDF pp. 26–28. These are three of six core words; all 30 are in the vocabulary handout.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19:50–19:52. Answer: exhausted. Ask for one original sentence with makeshift or solemn. Sources: PDF pp. 31–34. Accept original examples outside the story. Korean meanings and IPA appear in the handout and webpage.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19:52–19:54. Key: 1 seep; 2 makeshift; 3 he searches for his family; 4 companionship, shared experience, comfort or laughter. Ask for a chapter detail when possible. These questions check recall before writing.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19:54–19:57. A reasonable response: Marial eases loneliness and makes Salva laugh. Uncle promises to care for him and brings food and protection. Together they show that survival includes emotional and practical support. Encourage one new word if natural. Do not show a model answer before Yunjae attempts the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19:57–19:58. Possible risks: violence, dangerous animals, lack of water, separation, uncertainty about loved ones. Nya's mother fears losing her husband or son to conflict. Keep any claim about Marial's fate tentative at the Chapter 6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19:58–20:00. Confirm the assignment and let Yunjae choose one question. The other 24 words are for recognition and optional review, not a requirement to memorize all 30 at once. The handout includes a short self-check and an answer key on its final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9168ae800d4f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bbfab668984f53" /><Relationship Type="http://schemas.openxmlformats.org/officeDocument/2006/relationships/slideLayout" Target="/ppt/slideLayouts/slideLayout1.xml" Id="R617b0b5f5fc247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7b0b5f5fc247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349e61390f4d68" /><Relationship Type="http://schemas.openxmlformats.org/officeDocument/2006/relationships/notesSlide" Target="/ppt/notesSlides/notesSlide1.xml" Id="Rbb9a8161840749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d118f877514609" /><Relationship Type="http://schemas.openxmlformats.org/officeDocument/2006/relationships/notesSlide" Target="/ppt/notesSlides/notesSlide2.xml" Id="Rd4f9d48db92f47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760e979c7649eb" /><Relationship Type="http://schemas.openxmlformats.org/officeDocument/2006/relationships/notesSlide" Target="/ppt/notesSlides/notesSlide3.xml" Id="R8ccc36af819045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9fc33ab7394729" /><Relationship Type="http://schemas.openxmlformats.org/officeDocument/2006/relationships/notesSlide" Target="/ppt/notesSlides/notesSlide4.xml" Id="R09d0f460104044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7ea35bc4bc4343" /><Relationship Type="http://schemas.openxmlformats.org/officeDocument/2006/relationships/notesSlide" Target="/ppt/notesSlides/notesSlide5.xml" Id="R4612d4a5e3af4c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d75408f28048f6" /><Relationship Type="http://schemas.openxmlformats.org/officeDocument/2006/relationships/notesSlide" Target="/ppt/notesSlides/notesSlide6.xml" Id="R9500aca01a3a4b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a273f3779942e7" /><Relationship Type="http://schemas.openxmlformats.org/officeDocument/2006/relationships/notesSlide" Target="/ppt/notesSlides/notesSlide7.xml" Id="R8c7415a5f80f45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0adb99347a4607" /><Relationship Type="http://schemas.openxmlformats.org/officeDocument/2006/relationships/notesSlide" Target="/ppt/notesSlides/notesSlide8.xml" Id="R985643fb9dbe42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72a28cbe3f4f8e" /><Relationship Type="http://schemas.openxmlformats.org/officeDocument/2006/relationships/notesSlide" Target="/ppt/notesSlides/notesSlide9.xml" Id="R914df3ed01ee4e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72a444be1c4637" /><Relationship Type="http://schemas.openxmlformats.org/officeDocument/2006/relationships/notesSlide" Target="/ppt/notesSlides/notesSlide10.xml" Id="Ree931ee6a37041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32f83d4a3434124" /><Relationship Type="http://schemas.openxmlformats.org/officeDocument/2006/relationships/notesSlide" Target="/ppt/notesSlides/notesSlide11.xml" Id="Re1f34f6840ec41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39e12fb75814439" /><Relationship Type="http://schemas.openxmlformats.org/officeDocument/2006/relationships/notesSlide" Target="/ppt/notesSlides/notesSlide12.xml" Id="R8973166023704b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8acb3b6577b45a2" /><Relationship Type="http://schemas.openxmlformats.org/officeDocument/2006/relationships/notesSlide" Target="/ppt/notesSlides/notesSlide13.xml" Id="Rf129fbefcc6742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8098ea5d3e4655" /><Relationship Type="http://schemas.openxmlformats.org/officeDocument/2006/relationships/notesSlide" Target="/ppt/notesSlides/notesSlide14.xml" Id="Rfbfb9feed11949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7ef76fc9ec470f" /><Relationship Type="http://schemas.openxmlformats.org/officeDocument/2006/relationships/notesSlide" Target="/ppt/notesSlides/notesSlide15.xml" Id="Rd1c84248f7964777" /></Relationships>
</file>

<file path=ppt/slides/slide1.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B0144F-671B-4325-8E4E-481544DCFBF1}"/>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SESSION 3 / CHAPTERS 5–6</a:t>
            </a:r>
          </a:p>
        </p:txBody>
      </p:sp>
      <p:sp>
        <p:nvSpPr>
          <p:cNvPr id="2" name="">
            <a:extLst xmlns:a="http://schemas.openxmlformats.org/drawingml/2006/main">
              <a:ext uri="{FF2B5EF4-FFF2-40B4-BE49-F238E27FC236}">
                <a16:creationId xmlns:a16="http://schemas.microsoft.com/office/drawing/2014/main" id="{5849D6DA-EC80-46FD-AF48-C40F2E09AF70}"/>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342D26"/>
                </a:solidFill>
                <a:latin typeface="DejaVu Serif"/>
                <a:ea typeface="DejaVu Serif"/>
                <a:cs typeface="DejaVu Serif"/>
              </a:defRPr>
            </a:pPr>
            <a:r>
              <a:rPr sz="3825" b="1">
                <a:solidFill>
                  <a:srgbClr val="342D26"/>
                </a:solidFill>
                <a:latin typeface="DejaVu Serif"/>
                <a:ea typeface="DejaVu Serif"/>
                <a:cs typeface="DejaVu Serif"/>
              </a:rPr>
              <a:t>A Long Walk to Water</a:t>
            </a:r>
          </a:p>
        </p:txBody>
      </p:sp>
      <p:sp>
        <p:nvSpPr>
          <p:cNvPr id="3" name="">
            <a:extLst xmlns:a="http://schemas.openxmlformats.org/drawingml/2006/main">
              <a:ext uri="{FF2B5EF4-FFF2-40B4-BE49-F238E27FC236}">
                <a16:creationId xmlns:a16="http://schemas.microsoft.com/office/drawing/2014/main" id="{9ADFD47C-27EA-4628-B4B3-3EBE63B4CA64}"/>
              </a:ext>
            </a:extLst>
          </p:cNvPr>
          <p:cNvSpPr>
            <a:spLocks xmlns:a="http://schemas.openxmlformats.org/drawingml/2006/main" noGrp="1"/>
          </p:cNvSpPr>
          <p:nvPr/>
        </p:nvSpPr>
        <p:spPr>
          <a:xfrm xmlns:a="http://schemas.openxmlformats.org/drawingml/2006/main">
            <a:off x="628650" y="20955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0877A4"/>
                </a:solidFill>
                <a:latin typeface="DejaVu Serif"/>
                <a:ea typeface="DejaVu Serif"/>
                <a:cs typeface="DejaVu Serif"/>
              </a:defRPr>
            </a:pPr>
            <a:r>
              <a:rPr sz="2775" b="0">
                <a:solidFill>
                  <a:srgbClr val="0877A4"/>
                </a:solidFill>
                <a:latin typeface="DejaVu Serif"/>
                <a:ea typeface="DejaVu Serif"/>
                <a:cs typeface="DejaVu Serif"/>
              </a:rPr>
              <a:t>Friendship and fragile safety</a:t>
            </a:r>
          </a:p>
        </p:txBody>
      </p:sp>
      <p:sp>
        <p:nvSpPr>
          <p:cNvPr id="4" name="">
            <a:extLst xmlns:a="http://schemas.openxmlformats.org/drawingml/2006/main">
              <a:ext uri="{FF2B5EF4-FFF2-40B4-BE49-F238E27FC236}">
                <a16:creationId xmlns:a16="http://schemas.microsoft.com/office/drawing/2014/main" id="{90D41B69-0243-4D87-B7A1-83EDD93F7EB1}"/>
              </a:ext>
            </a:extLst>
          </p:cNvPr>
          <p:cNvSpPr>
            <a:spLocks xmlns:a="http://schemas.openxmlformats.org/drawingml/2006/main" noGrp="1"/>
          </p:cNvSpPr>
          <p:nvPr/>
        </p:nvSpPr>
        <p:spPr>
          <a:xfrm xmlns:a="http://schemas.openxmlformats.org/drawingml/2006/main">
            <a:off x="628650" y="34480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42D26"/>
                </a:solidFill>
                <a:latin typeface="DejaVu Sans"/>
                <a:ea typeface="DejaVu Sans"/>
                <a:cs typeface="DejaVu Sans"/>
              </a:defRPr>
            </a:pPr>
            <a:r>
              <a:rPr sz="2100" b="0">
                <a:solidFill>
                  <a:srgbClr val="342D26"/>
                </a:solidFill>
                <a:latin typeface="DejaVu Sans"/>
                <a:ea typeface="DejaVu Sans"/>
                <a:cs typeface="DejaVu Sans"/>
              </a:rPr>
              <a:t>Yunjae • Grade 8</a:t>
            </a:r>
          </a:p>
          <a:p xmlns:a="http://schemas.openxmlformats.org/drawingml/2006/main">
            <a:pPr>
              <a:defRPr sz="2100" b="0">
                <a:solidFill>
                  <a:srgbClr val="342D26"/>
                </a:solidFill>
                <a:latin typeface="DejaVu Sans"/>
                <a:ea typeface="DejaVu Sans"/>
                <a:cs typeface="DejaVu Sans"/>
              </a:defRPr>
            </a:pPr>
            <a:r>
              <a:rPr sz="2100" b="0">
                <a:solidFill>
                  <a:srgbClr val="342D26"/>
                </a:solidFill>
                <a:latin typeface="DejaVu Sans"/>
                <a:ea typeface="DejaVu Sans"/>
                <a:cs typeface="DejaVu Sans"/>
              </a:rPr>
              <a:t>Friday, October 2, 2026</a:t>
            </a:r>
          </a:p>
          <a:p xmlns:a="http://schemas.openxmlformats.org/drawingml/2006/main">
            <a:pPr>
              <a:defRPr sz="2100" b="0">
                <a:solidFill>
                  <a:srgbClr val="342D26"/>
                </a:solidFill>
                <a:latin typeface="DejaVu Sans"/>
                <a:ea typeface="DejaVu Sans"/>
                <a:cs typeface="DejaVu Sans"/>
              </a:defRPr>
            </a:pPr>
            <a:r>
              <a:rPr sz="2100" b="0">
                <a:solidFill>
                  <a:srgbClr val="342D26"/>
                </a:solidFill>
                <a:latin typeface="DejaVu Sans"/>
                <a:ea typeface="DejaVu Sans"/>
                <a:cs typeface="DejaVu Sans"/>
              </a:rPr>
              <a:t>7:30–8:00 p.m. KST</a:t>
            </a:r>
          </a:p>
        </p:txBody>
      </p:sp>
      <p:sp>
        <p:nvSpPr>
          <p:cNvPr id="5" name="">
            <a:extLst xmlns:a="http://schemas.openxmlformats.org/drawingml/2006/main">
              <a:ext uri="{FF2B5EF4-FFF2-40B4-BE49-F238E27FC236}">
                <a16:creationId xmlns:a16="http://schemas.microsoft.com/office/drawing/2014/main" id="{BA8F4244-A647-4039-A23C-30B58F6D006D}"/>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1 of 15</a:t>
            </a:r>
          </a:p>
        </p:txBody>
      </p:sp>
    </p:spTree>
    <p:extLst>
      <p:ext uri="{BB962C8B-B14F-4D97-AF65-F5344CB8AC3E}">
        <p14:creationId xmlns:p14="http://schemas.microsoft.com/office/powerpoint/2010/main" val="1761041441"/>
      </p:ext>
    </p:extLst>
  </p:cSld>
</p:sld>
</file>

<file path=ppt/slides/slide2.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968F42-E0CF-49ED-9571-B9DA4882CC32}"/>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RECAP / 2 MIN</a:t>
            </a:r>
          </a:p>
        </p:txBody>
      </p:sp>
      <p:sp>
        <p:nvSpPr>
          <p:cNvPr id="2" name="">
            <a:extLst xmlns:a="http://schemas.openxmlformats.org/drawingml/2006/main">
              <a:ext uri="{FF2B5EF4-FFF2-40B4-BE49-F238E27FC236}">
                <a16:creationId xmlns:a16="http://schemas.microsoft.com/office/drawing/2014/main" id="{CACE70CC-BEEB-47B2-A1BA-61520DF27CB7}"/>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Previously in Chapters 3–4</a:t>
            </a:r>
          </a:p>
        </p:txBody>
      </p:sp>
      <p:sp>
        <p:nvSpPr>
          <p:cNvPr id="3" name="">
            <a:extLst xmlns:a="http://schemas.openxmlformats.org/drawingml/2006/main">
              <a:ext uri="{FF2B5EF4-FFF2-40B4-BE49-F238E27FC236}">
                <a16:creationId xmlns:a16="http://schemas.microsoft.com/office/drawing/2014/main" id="{F38ACACE-57BE-4406-80FE-464DAB8D400B}"/>
              </a:ext>
            </a:extLst>
          </p:cNvPr>
          <p:cNvSpPr>
            <a:spLocks xmlns:a="http://schemas.openxmlformats.org/drawingml/2006/main" noGrp="1"/>
          </p:cNvSpPr>
          <p:nvPr/>
        </p:nvSpPr>
        <p:spPr>
          <a:xfrm xmlns:a="http://schemas.openxmlformats.org/drawingml/2006/main">
            <a:off x="628650" y="2076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Nya carries water home and begins another trip.</a:t>
            </a:r>
          </a:p>
        </p:txBody>
      </p:sp>
      <p:sp>
        <p:nvSpPr>
          <p:cNvPr id="4" name="">
            <a:extLst xmlns:a="http://schemas.openxmlformats.org/drawingml/2006/main">
              <a:ext uri="{FF2B5EF4-FFF2-40B4-BE49-F238E27FC236}">
                <a16:creationId xmlns:a16="http://schemas.microsoft.com/office/drawing/2014/main" id="{93C3D15E-D8FE-4284-9E91-DFEEC4545168}"/>
              </a:ext>
            </a:extLst>
          </p:cNvPr>
          <p:cNvSpPr>
            <a:spLocks xmlns:a="http://schemas.openxmlformats.org/drawingml/2006/main" noGrp="1"/>
          </p:cNvSpPr>
          <p:nvPr/>
        </p:nvSpPr>
        <p:spPr>
          <a:xfrm xmlns:a="http://schemas.openxmlformats.org/drawingml/2006/main">
            <a:off x="628650" y="30289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Salva joins a group after the old woman must leave.</a:t>
            </a:r>
          </a:p>
        </p:txBody>
      </p:sp>
      <p:sp>
        <p:nvSpPr>
          <p:cNvPr id="5" name="">
            <a:extLst xmlns:a="http://schemas.openxmlformats.org/drawingml/2006/main">
              <a:ext uri="{FF2B5EF4-FFF2-40B4-BE49-F238E27FC236}">
                <a16:creationId xmlns:a16="http://schemas.microsoft.com/office/drawing/2014/main" id="{BBEF0D9F-B072-4425-A5B5-60944FC7A288}"/>
              </a:ext>
            </a:extLst>
          </p:cNvPr>
          <p:cNvSpPr>
            <a:spLocks xmlns:a="http://schemas.openxmlformats.org/drawingml/2006/main" noGrp="1"/>
          </p:cNvSpPr>
          <p:nvPr/>
        </p:nvSpPr>
        <p:spPr>
          <a:xfrm xmlns:a="http://schemas.openxmlformats.org/drawingml/2006/main">
            <a:off x="628650" y="3981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Buksa follows a honey guide to a beehive.</a:t>
            </a:r>
          </a:p>
        </p:txBody>
      </p:sp>
      <p:sp>
        <p:nvSpPr>
          <p:cNvPr id="6" name="">
            <a:extLst xmlns:a="http://schemas.openxmlformats.org/drawingml/2006/main">
              <a:ext uri="{FF2B5EF4-FFF2-40B4-BE49-F238E27FC236}">
                <a16:creationId xmlns:a16="http://schemas.microsoft.com/office/drawing/2014/main" id="{183DA3C4-4F66-474E-9711-4DABC491BB4C}"/>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How could finding food change Salva’s next day?</a:t>
            </a:r>
          </a:p>
        </p:txBody>
      </p:sp>
      <p:sp>
        <p:nvSpPr>
          <p:cNvPr id="7" name="">
            <a:extLst xmlns:a="http://schemas.openxmlformats.org/drawingml/2006/main">
              <a:ext uri="{FF2B5EF4-FFF2-40B4-BE49-F238E27FC236}">
                <a16:creationId xmlns:a16="http://schemas.microsoft.com/office/drawing/2014/main" id="{7D769008-2476-4866-81D1-D3DC1C25F170}"/>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2 of 15</a:t>
            </a:r>
          </a:p>
        </p:txBody>
      </p:sp>
    </p:spTree>
    <p:extLst>
      <p:ext uri="{BB962C8B-B14F-4D97-AF65-F5344CB8AC3E}">
        <p14:creationId xmlns:p14="http://schemas.microsoft.com/office/powerpoint/2010/main" val="1229182219"/>
      </p:ext>
    </p:extLst>
  </p:cSld>
</p:sld>
</file>

<file path=ppt/slides/slide3.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6B8AA1-287F-4ADE-84DC-A043CD056826}"/>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LESSON PLAN</a:t>
            </a:r>
          </a:p>
        </p:txBody>
      </p:sp>
      <p:sp>
        <p:nvSpPr>
          <p:cNvPr id="2" name="">
            <a:extLst xmlns:a="http://schemas.openxmlformats.org/drawingml/2006/main">
              <a:ext uri="{FF2B5EF4-FFF2-40B4-BE49-F238E27FC236}">
                <a16:creationId xmlns:a16="http://schemas.microsoft.com/office/drawing/2014/main" id="{9AE842AD-B04A-43E4-A288-E87C6248F293}"/>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Our 30-minute lesson</a:t>
            </a:r>
          </a:p>
        </p:txBody>
      </p:sp>
      <p:sp>
        <p:nvSpPr>
          <p:cNvPr id="3" name="">
            <a:extLst xmlns:a="http://schemas.openxmlformats.org/drawingml/2006/main">
              <a:ext uri="{FF2B5EF4-FFF2-40B4-BE49-F238E27FC236}">
                <a16:creationId xmlns:a16="http://schemas.microsoft.com/office/drawing/2014/main" id="{0CAB02EF-D24D-44E9-9229-8F4B5BE14A74}"/>
              </a:ext>
            </a:extLst>
          </p:cNvPr>
          <p:cNvSpPr>
            <a:spLocks xmlns:a="http://schemas.openxmlformats.org/drawingml/2006/main" noGrp="1"/>
          </p:cNvSpPr>
          <p:nvPr/>
        </p:nvSpPr>
        <p:spPr>
          <a:xfrm xmlns:a="http://schemas.openxmlformats.org/drawingml/2006/main">
            <a:off x="628650" y="2076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42D26"/>
                </a:solidFill>
                <a:latin typeface="DejaVu Sans"/>
                <a:ea typeface="DejaVu Sans"/>
                <a:cs typeface="DejaVu Sans"/>
              </a:defRPr>
            </a:pPr>
            <a:r>
              <a:rPr sz="2100" b="0">
                <a:solidFill>
                  <a:srgbClr val="342D26"/>
                </a:solidFill>
                <a:latin typeface="DejaVu Sans"/>
                <a:ea typeface="DejaVu Sans"/>
                <a:cs typeface="DejaVu Sans"/>
              </a:rPr>
              <a:t>7:30–7:33  Welcome and recap</a:t>
            </a:r>
          </a:p>
        </p:txBody>
      </p:sp>
      <p:sp>
        <p:nvSpPr>
          <p:cNvPr id="4" name="">
            <a:extLst xmlns:a="http://schemas.openxmlformats.org/drawingml/2006/main">
              <a:ext uri="{FF2B5EF4-FFF2-40B4-BE49-F238E27FC236}">
                <a16:creationId xmlns:a16="http://schemas.microsoft.com/office/drawing/2014/main" id="{522E2C75-CF94-4F26-A26F-EA57992776FC}"/>
              </a:ext>
            </a:extLst>
          </p:cNvPr>
          <p:cNvSpPr>
            <a:spLocks xmlns:a="http://schemas.openxmlformats.org/drawingml/2006/main" noGrp="1"/>
          </p:cNvSpPr>
          <p:nvPr/>
        </p:nvSpPr>
        <p:spPr>
          <a:xfrm xmlns:a="http://schemas.openxmlformats.org/drawingml/2006/main">
            <a:off x="628650" y="27241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42D26"/>
                </a:solidFill>
                <a:latin typeface="DejaVu Sans"/>
                <a:ea typeface="DejaVu Sans"/>
                <a:cs typeface="DejaVu Sans"/>
              </a:defRPr>
            </a:pPr>
            <a:r>
              <a:rPr sz="2100" b="0">
                <a:solidFill>
                  <a:srgbClr val="342D26"/>
                </a:solidFill>
                <a:latin typeface="DejaVu Sans"/>
                <a:ea typeface="DejaVu Sans"/>
                <a:cs typeface="DejaVu Sans"/>
              </a:rPr>
              <a:t>7:33–7:47  Six scenes and discussion</a:t>
            </a:r>
          </a:p>
        </p:txBody>
      </p:sp>
      <p:sp>
        <p:nvSpPr>
          <p:cNvPr id="5" name="">
            <a:extLst xmlns:a="http://schemas.openxmlformats.org/drawingml/2006/main">
              <a:ext uri="{FF2B5EF4-FFF2-40B4-BE49-F238E27FC236}">
                <a16:creationId xmlns:a16="http://schemas.microsoft.com/office/drawing/2014/main" id="{748C4F62-5FE8-470A-9100-8986CE41D25A}"/>
              </a:ext>
            </a:extLst>
          </p:cNvPr>
          <p:cNvSpPr>
            <a:spLocks xmlns:a="http://schemas.openxmlformats.org/drawingml/2006/main" noGrp="1"/>
          </p:cNvSpPr>
          <p:nvPr/>
        </p:nvSpPr>
        <p:spPr>
          <a:xfrm xmlns:a="http://schemas.openxmlformats.org/drawingml/2006/main">
            <a:off x="628650" y="3371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42D26"/>
                </a:solidFill>
                <a:latin typeface="DejaVu Sans"/>
                <a:ea typeface="DejaVu Sans"/>
                <a:cs typeface="DejaVu Sans"/>
              </a:defRPr>
            </a:pPr>
            <a:r>
              <a:rPr sz="2100" b="0">
                <a:solidFill>
                  <a:srgbClr val="342D26"/>
                </a:solidFill>
                <a:latin typeface="DejaVu Sans"/>
                <a:ea typeface="DejaVu Sans"/>
                <a:cs typeface="DejaVu Sans"/>
              </a:rPr>
              <a:t>7:47–7:52  Six key words</a:t>
            </a:r>
          </a:p>
        </p:txBody>
      </p:sp>
      <p:sp>
        <p:nvSpPr>
          <p:cNvPr id="6" name="">
            <a:extLst xmlns:a="http://schemas.openxmlformats.org/drawingml/2006/main">
              <a:ext uri="{FF2B5EF4-FFF2-40B4-BE49-F238E27FC236}">
                <a16:creationId xmlns:a16="http://schemas.microsoft.com/office/drawing/2014/main" id="{B10FEE91-48E6-484E-8F77-55769C9483C9}"/>
              </a:ext>
            </a:extLst>
          </p:cNvPr>
          <p:cNvSpPr>
            <a:spLocks xmlns:a="http://schemas.openxmlformats.org/drawingml/2006/main" noGrp="1"/>
          </p:cNvSpPr>
          <p:nvPr/>
        </p:nvSpPr>
        <p:spPr>
          <a:xfrm xmlns:a="http://schemas.openxmlformats.org/drawingml/2006/main">
            <a:off x="628650" y="40195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42D26"/>
                </a:solidFill>
                <a:latin typeface="DejaVu Sans"/>
                <a:ea typeface="DejaVu Sans"/>
                <a:cs typeface="DejaVu Sans"/>
              </a:defRPr>
            </a:pPr>
            <a:r>
              <a:rPr sz="2100" b="0">
                <a:solidFill>
                  <a:srgbClr val="342D26"/>
                </a:solidFill>
                <a:latin typeface="DejaVu Sans"/>
                <a:ea typeface="DejaVu Sans"/>
                <a:cs typeface="DejaVu Sans"/>
              </a:rPr>
              <a:t>7:52–7:57  Quick check and short writing</a:t>
            </a:r>
          </a:p>
        </p:txBody>
      </p:sp>
      <p:sp>
        <p:nvSpPr>
          <p:cNvPr id="7" name="">
            <a:extLst xmlns:a="http://schemas.openxmlformats.org/drawingml/2006/main">
              <a:ext uri="{FF2B5EF4-FFF2-40B4-BE49-F238E27FC236}">
                <a16:creationId xmlns:a16="http://schemas.microsoft.com/office/drawing/2014/main" id="{DE54E43C-4F77-4259-BCF9-A38D56D6957F}"/>
              </a:ext>
            </a:extLst>
          </p:cNvPr>
          <p:cNvSpPr>
            <a:spLocks xmlns:a="http://schemas.openxmlformats.org/drawingml/2006/main" noGrp="1"/>
          </p:cNvSpPr>
          <p:nvPr/>
        </p:nvSpPr>
        <p:spPr>
          <a:xfrm xmlns:a="http://schemas.openxmlformats.org/drawingml/2006/main">
            <a:off x="628650" y="4667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42D26"/>
                </a:solidFill>
                <a:latin typeface="DejaVu Sans"/>
                <a:ea typeface="DejaVu Sans"/>
                <a:cs typeface="DejaVu Sans"/>
              </a:defRPr>
            </a:pPr>
            <a:r>
              <a:rPr sz="2100" b="0">
                <a:solidFill>
                  <a:srgbClr val="342D26"/>
                </a:solidFill>
                <a:latin typeface="DejaVu Sans"/>
                <a:ea typeface="DejaVu Sans"/>
                <a:cs typeface="DejaVu Sans"/>
              </a:rPr>
              <a:t>7:57–8:00  Exit ticket and review</a:t>
            </a:r>
          </a:p>
        </p:txBody>
      </p:sp>
      <p:sp>
        <p:nvSpPr>
          <p:cNvPr id="8" name="">
            <a:extLst xmlns:a="http://schemas.openxmlformats.org/drawingml/2006/main">
              <a:ext uri="{FF2B5EF4-FFF2-40B4-BE49-F238E27FC236}">
                <a16:creationId xmlns:a16="http://schemas.microsoft.com/office/drawing/2014/main" id="{23B3E700-07C9-4C6D-8852-519C56627CF2}"/>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3 of 15</a:t>
            </a:r>
          </a:p>
        </p:txBody>
      </p:sp>
    </p:spTree>
    <p:extLst>
      <p:ext uri="{BB962C8B-B14F-4D97-AF65-F5344CB8AC3E}">
        <p14:creationId xmlns:p14="http://schemas.microsoft.com/office/powerpoint/2010/main" val="451121014"/>
      </p:ext>
    </p:extLst>
  </p:cSld>
</p:sld>
</file>

<file path=ppt/slides/slide4.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6240F0-AB1F-48E5-8698-52A53F310DFA}"/>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CHAPTER 5 / PDF P. 26 / 3 MIN</a:t>
            </a:r>
          </a:p>
        </p:txBody>
      </p:sp>
      <p:sp>
        <p:nvSpPr>
          <p:cNvPr id="2" name="">
            <a:extLst xmlns:a="http://schemas.openxmlformats.org/drawingml/2006/main">
              <a:ext uri="{FF2B5EF4-FFF2-40B4-BE49-F238E27FC236}">
                <a16:creationId xmlns:a16="http://schemas.microsoft.com/office/drawing/2014/main" id="{CE4B3D0B-670F-4646-B2F4-1C0F72C26DF7}"/>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Nya waits for water</a:t>
            </a:r>
          </a:p>
        </p:txBody>
      </p:sp>
      <p:sp>
        <p:nvSpPr>
          <p:cNvPr id="3" name="">
            <a:extLst xmlns:a="http://schemas.openxmlformats.org/drawingml/2006/main">
              <a:ext uri="{FF2B5EF4-FFF2-40B4-BE49-F238E27FC236}">
                <a16:creationId xmlns:a16="http://schemas.microsoft.com/office/drawing/2014/main" id="{A1731731-766E-42BB-951A-E9EC94D3002C}"/>
              </a:ext>
            </a:extLst>
          </p:cNvPr>
          <p:cNvSpPr>
            <a:spLocks xmlns:a="http://schemas.openxmlformats.org/drawingml/2006/main" noGrp="1"/>
          </p:cNvSpPr>
          <p:nvPr/>
        </p:nvSpPr>
        <p:spPr>
          <a:xfrm xmlns:a="http://schemas.openxmlformats.org/drawingml/2006/main">
            <a:off x="628650" y="2076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During the dry season, Nya’s family moves to a lake camp.</a:t>
            </a:r>
          </a:p>
        </p:txBody>
      </p:sp>
      <p:sp>
        <p:nvSpPr>
          <p:cNvPr id="4" name="">
            <a:extLst xmlns:a="http://schemas.openxmlformats.org/drawingml/2006/main">
              <a:ext uri="{FF2B5EF4-FFF2-40B4-BE49-F238E27FC236}">
                <a16:creationId xmlns:a16="http://schemas.microsoft.com/office/drawing/2014/main" id="{EFA6B994-A044-4DF7-BC5E-76C0F33667BE}"/>
              </a:ext>
            </a:extLst>
          </p:cNvPr>
          <p:cNvSpPr>
            <a:spLocks xmlns:a="http://schemas.openxmlformats.org/drawingml/2006/main" noGrp="1"/>
          </p:cNvSpPr>
          <p:nvPr/>
        </p:nvSpPr>
        <p:spPr>
          <a:xfrm xmlns:a="http://schemas.openxmlformats.org/drawingml/2006/main">
            <a:off x="628650" y="30289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Water remains in the clay beneath the dry lakebed.</a:t>
            </a:r>
          </a:p>
        </p:txBody>
      </p:sp>
      <p:sp>
        <p:nvSpPr>
          <p:cNvPr id="5" name="">
            <a:extLst xmlns:a="http://schemas.openxmlformats.org/drawingml/2006/main">
              <a:ext uri="{FF2B5EF4-FFF2-40B4-BE49-F238E27FC236}">
                <a16:creationId xmlns:a16="http://schemas.microsoft.com/office/drawing/2014/main" id="{C16ABF8C-D1A2-4866-A418-10BB2672AEC1}"/>
              </a:ext>
            </a:extLst>
          </p:cNvPr>
          <p:cNvSpPr>
            <a:spLocks xmlns:a="http://schemas.openxmlformats.org/drawingml/2006/main" noGrp="1"/>
          </p:cNvSpPr>
          <p:nvPr/>
        </p:nvSpPr>
        <p:spPr>
          <a:xfrm xmlns:a="http://schemas.openxmlformats.org/drawingml/2006/main">
            <a:off x="628650" y="3981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Nya digs and waits for muddy water to seep into a hole.</a:t>
            </a:r>
          </a:p>
        </p:txBody>
      </p:sp>
      <p:sp>
        <p:nvSpPr>
          <p:cNvPr id="6" name="">
            <a:extLst xmlns:a="http://schemas.openxmlformats.org/drawingml/2006/main">
              <a:ext uri="{FF2B5EF4-FFF2-40B4-BE49-F238E27FC236}">
                <a16:creationId xmlns:a16="http://schemas.microsoft.com/office/drawing/2014/main" id="{40B82370-5A0C-4949-8B51-A22D2B6A1487}"/>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Why does living closer to water still take hours of work?</a:t>
            </a:r>
          </a:p>
        </p:txBody>
      </p:sp>
      <p:sp>
        <p:nvSpPr>
          <p:cNvPr id="7" name="">
            <a:extLst xmlns:a="http://schemas.openxmlformats.org/drawingml/2006/main">
              <a:ext uri="{FF2B5EF4-FFF2-40B4-BE49-F238E27FC236}">
                <a16:creationId xmlns:a16="http://schemas.microsoft.com/office/drawing/2014/main" id="{FE85D867-C041-4DD7-8DDF-1744FC757DA8}"/>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4 of 15</a:t>
            </a:r>
          </a:p>
        </p:txBody>
      </p:sp>
    </p:spTree>
    <p:extLst>
      <p:ext uri="{BB962C8B-B14F-4D97-AF65-F5344CB8AC3E}">
        <p14:creationId xmlns:p14="http://schemas.microsoft.com/office/powerpoint/2010/main" val="1654425697"/>
      </p:ext>
    </p:extLst>
  </p:cSld>
</p:sld>
</file>

<file path=ppt/slides/slide5.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843F3B-7AF6-4E53-BF90-295C291EBD14}"/>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CHAPTER 5 / PDF PP. 27–28 / 2 MIN</a:t>
            </a:r>
          </a:p>
        </p:txBody>
      </p:sp>
      <p:sp>
        <p:nvSpPr>
          <p:cNvPr id="2" name="">
            <a:extLst xmlns:a="http://schemas.openxmlformats.org/drawingml/2006/main">
              <a:ext uri="{FF2B5EF4-FFF2-40B4-BE49-F238E27FC236}">
                <a16:creationId xmlns:a16="http://schemas.microsoft.com/office/drawing/2014/main" id="{0A93D2E4-D33E-4D35-BF9F-3E9C9854BC31}"/>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Honey brings temporary relief</a:t>
            </a:r>
          </a:p>
        </p:txBody>
      </p:sp>
      <p:sp>
        <p:nvSpPr>
          <p:cNvPr id="3" name="">
            <a:extLst xmlns:a="http://schemas.openxmlformats.org/drawingml/2006/main">
              <a:ext uri="{FF2B5EF4-FFF2-40B4-BE49-F238E27FC236}">
                <a16:creationId xmlns:a16="http://schemas.microsoft.com/office/drawing/2014/main" id="{38D62E60-1D74-43AE-BFF7-4464095DD46C}"/>
              </a:ext>
            </a:extLst>
          </p:cNvPr>
          <p:cNvSpPr>
            <a:spLocks xmlns:a="http://schemas.openxmlformats.org/drawingml/2006/main" noGrp="1"/>
          </p:cNvSpPr>
          <p:nvPr/>
        </p:nvSpPr>
        <p:spPr>
          <a:xfrm xmlns:a="http://schemas.openxmlformats.org/drawingml/2006/main">
            <a:off x="628650" y="2076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The group gets honey, but the bees sting many people.</a:t>
            </a:r>
          </a:p>
        </p:txBody>
      </p:sp>
      <p:sp>
        <p:nvSpPr>
          <p:cNvPr id="4" name="">
            <a:extLst xmlns:a="http://schemas.openxmlformats.org/drawingml/2006/main">
              <a:ext uri="{FF2B5EF4-FFF2-40B4-BE49-F238E27FC236}">
                <a16:creationId xmlns:a16="http://schemas.microsoft.com/office/drawing/2014/main" id="{4B33640A-44B0-4A59-83A0-173FBCA61B34}"/>
              </a:ext>
            </a:extLst>
          </p:cNvPr>
          <p:cNvSpPr>
            <a:spLocks xmlns:a="http://schemas.openxmlformats.org/drawingml/2006/main" noGrp="1"/>
          </p:cNvSpPr>
          <p:nvPr/>
        </p:nvSpPr>
        <p:spPr>
          <a:xfrm xmlns:a="http://schemas.openxmlformats.org/drawingml/2006/main">
            <a:off x="628650" y="30289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Food gives Salva enough energy to walk more easily.</a:t>
            </a:r>
          </a:p>
        </p:txBody>
      </p:sp>
      <p:sp>
        <p:nvSpPr>
          <p:cNvPr id="5" name="">
            <a:extLst xmlns:a="http://schemas.openxmlformats.org/drawingml/2006/main">
              <a:ext uri="{FF2B5EF4-FFF2-40B4-BE49-F238E27FC236}">
                <a16:creationId xmlns:a16="http://schemas.microsoft.com/office/drawing/2014/main" id="{004721FF-B6B0-4A74-BC22-57BB1B99A1F3}"/>
              </a:ext>
            </a:extLst>
          </p:cNvPr>
          <p:cNvSpPr>
            <a:spLocks xmlns:a="http://schemas.openxmlformats.org/drawingml/2006/main" noGrp="1"/>
          </p:cNvSpPr>
          <p:nvPr/>
        </p:nvSpPr>
        <p:spPr>
          <a:xfrm xmlns:a="http://schemas.openxmlformats.org/drawingml/2006/main">
            <a:off x="628650" y="3981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He saves honeycomb and later chews the remaining wax.</a:t>
            </a:r>
          </a:p>
        </p:txBody>
      </p:sp>
      <p:sp>
        <p:nvSpPr>
          <p:cNvPr id="6" name="">
            <a:extLst xmlns:a="http://schemas.openxmlformats.org/drawingml/2006/main">
              <a:ext uri="{FF2B5EF4-FFF2-40B4-BE49-F238E27FC236}">
                <a16:creationId xmlns:a16="http://schemas.microsoft.com/office/drawing/2014/main" id="{57095A24-C680-491C-AF22-8590E8D93D01}"/>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What does saving the honeycomb reveal about hunger?</a:t>
            </a:r>
          </a:p>
        </p:txBody>
      </p:sp>
      <p:sp>
        <p:nvSpPr>
          <p:cNvPr id="7" name="">
            <a:extLst xmlns:a="http://schemas.openxmlformats.org/drawingml/2006/main">
              <a:ext uri="{FF2B5EF4-FFF2-40B4-BE49-F238E27FC236}">
                <a16:creationId xmlns:a16="http://schemas.microsoft.com/office/drawing/2014/main" id="{14C5E254-C5EA-47FE-87F7-001C5E839E61}"/>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5 of 15</a:t>
            </a:r>
          </a:p>
        </p:txBody>
      </p:sp>
    </p:spTree>
    <p:extLst>
      <p:ext uri="{BB962C8B-B14F-4D97-AF65-F5344CB8AC3E}">
        <p14:creationId xmlns:p14="http://schemas.microsoft.com/office/powerpoint/2010/main" val="896871321"/>
      </p:ext>
    </p:extLst>
  </p:cSld>
</p:sld>
</file>

<file path=ppt/slides/slide6.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98B342-5858-4062-AED4-F6851702E357}"/>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CHAPTER 5 / PDF PP. 28–30 / 2 MIN</a:t>
            </a:r>
          </a:p>
        </p:txBody>
      </p:sp>
      <p:sp>
        <p:nvSpPr>
          <p:cNvPr id="2" name="">
            <a:extLst xmlns:a="http://schemas.openxmlformats.org/drawingml/2006/main">
              <a:ext uri="{FF2B5EF4-FFF2-40B4-BE49-F238E27FC236}">
                <a16:creationId xmlns:a16="http://schemas.microsoft.com/office/drawing/2014/main" id="{449842B5-C326-4839-822E-7F3206BF7921}"/>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Marial offers companionship</a:t>
            </a:r>
          </a:p>
        </p:txBody>
      </p:sp>
      <p:sp>
        <p:nvSpPr>
          <p:cNvPr id="3" name="">
            <a:extLst xmlns:a="http://schemas.openxmlformats.org/drawingml/2006/main">
              <a:ext uri="{FF2B5EF4-FFF2-40B4-BE49-F238E27FC236}">
                <a16:creationId xmlns:a16="http://schemas.microsoft.com/office/drawing/2014/main" id="{D297AC38-C88C-4666-934F-CEDB7D2BF498}"/>
              </a:ext>
            </a:extLst>
          </p:cNvPr>
          <p:cNvSpPr>
            <a:spLocks xmlns:a="http://schemas.openxmlformats.org/drawingml/2006/main" noGrp="1"/>
          </p:cNvSpPr>
          <p:nvPr/>
        </p:nvSpPr>
        <p:spPr>
          <a:xfrm xmlns:a="http://schemas.openxmlformats.org/drawingml/2006/main">
            <a:off x="628650" y="2076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Salva and Marial are the same age and both miss their families.</a:t>
            </a:r>
          </a:p>
        </p:txBody>
      </p:sp>
      <p:sp>
        <p:nvSpPr>
          <p:cNvPr id="4" name="">
            <a:extLst xmlns:a="http://schemas.openxmlformats.org/drawingml/2006/main">
              <a:ext uri="{FF2B5EF4-FFF2-40B4-BE49-F238E27FC236}">
                <a16:creationId xmlns:a16="http://schemas.microsoft.com/office/drawing/2014/main" id="{9B3333ED-4451-4B91-83CD-02178F5EA3DD}"/>
              </a:ext>
            </a:extLst>
          </p:cNvPr>
          <p:cNvSpPr>
            <a:spLocks xmlns:a="http://schemas.openxmlformats.org/drawingml/2006/main" noGrp="1"/>
          </p:cNvSpPr>
          <p:nvPr/>
        </p:nvSpPr>
        <p:spPr>
          <a:xfrm xmlns:a="http://schemas.openxmlformats.org/drawingml/2006/main">
            <a:off x="628650" y="30289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They walk together and share their worries.</a:t>
            </a:r>
          </a:p>
        </p:txBody>
      </p:sp>
      <p:sp>
        <p:nvSpPr>
          <p:cNvPr id="5" name="">
            <a:extLst xmlns:a="http://schemas.openxmlformats.org/drawingml/2006/main">
              <a:ext uri="{FF2B5EF4-FFF2-40B4-BE49-F238E27FC236}">
                <a16:creationId xmlns:a16="http://schemas.microsoft.com/office/drawing/2014/main" id="{0CA4B3A9-266D-4995-B14C-58B872951869}"/>
              </a:ext>
            </a:extLst>
          </p:cNvPr>
          <p:cNvSpPr>
            <a:spLocks xmlns:a="http://schemas.openxmlformats.org/drawingml/2006/main" noGrp="1"/>
          </p:cNvSpPr>
          <p:nvPr/>
        </p:nvSpPr>
        <p:spPr>
          <a:xfrm xmlns:a="http://schemas.openxmlformats.org/drawingml/2006/main">
            <a:off x="628650" y="3981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Marial’s idea about walking around the world makes them laugh.</a:t>
            </a:r>
          </a:p>
        </p:txBody>
      </p:sp>
      <p:sp>
        <p:nvSpPr>
          <p:cNvPr id="6" name="">
            <a:extLst xmlns:a="http://schemas.openxmlformats.org/drawingml/2006/main">
              <a:ext uri="{FF2B5EF4-FFF2-40B4-BE49-F238E27FC236}">
                <a16:creationId xmlns:a16="http://schemas.microsoft.com/office/drawing/2014/main" id="{F9D0F406-490A-423B-9219-88539D25D792}"/>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How does Marial help even without food or protection?</a:t>
            </a:r>
          </a:p>
        </p:txBody>
      </p:sp>
      <p:sp>
        <p:nvSpPr>
          <p:cNvPr id="7" name="">
            <a:extLst xmlns:a="http://schemas.openxmlformats.org/drawingml/2006/main">
              <a:ext uri="{FF2B5EF4-FFF2-40B4-BE49-F238E27FC236}">
                <a16:creationId xmlns:a16="http://schemas.microsoft.com/office/drawing/2014/main" id="{9B24F94B-8800-48EE-94CE-E1ABC3CEFC21}"/>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6 of 15</a:t>
            </a:r>
          </a:p>
        </p:txBody>
      </p:sp>
    </p:spTree>
    <p:extLst>
      <p:ext uri="{BB962C8B-B14F-4D97-AF65-F5344CB8AC3E}">
        <p14:creationId xmlns:p14="http://schemas.microsoft.com/office/powerpoint/2010/main" val="1612408431"/>
      </p:ext>
    </p:extLst>
  </p:cSld>
</p:sld>
</file>

<file path=ppt/slides/slide7.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C12136-02A4-46F7-BCB5-0648709E1069}"/>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CHAPTER 6 / PDF P. 31 / 2 MIN</a:t>
            </a:r>
          </a:p>
        </p:txBody>
      </p:sp>
      <p:sp>
        <p:nvSpPr>
          <p:cNvPr id="2" name="">
            <a:extLst xmlns:a="http://schemas.openxmlformats.org/drawingml/2006/main">
              <a:ext uri="{FF2B5EF4-FFF2-40B4-BE49-F238E27FC236}">
                <a16:creationId xmlns:a16="http://schemas.microsoft.com/office/drawing/2014/main" id="{A422678B-EEF9-45FF-861D-16A328B56B8D}"/>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One camp, two perspectives</a:t>
            </a:r>
          </a:p>
        </p:txBody>
      </p:sp>
      <p:sp>
        <p:nvSpPr>
          <p:cNvPr id="3" name="">
            <a:extLst xmlns:a="http://schemas.openxmlformats.org/drawingml/2006/main">
              <a:ext uri="{FF2B5EF4-FFF2-40B4-BE49-F238E27FC236}">
                <a16:creationId xmlns:a16="http://schemas.microsoft.com/office/drawing/2014/main" id="{0E831CDF-8EE0-45FC-9B43-5F434F3B3993}"/>
              </a:ext>
            </a:extLst>
          </p:cNvPr>
          <p:cNvSpPr>
            <a:spLocks xmlns:a="http://schemas.openxmlformats.org/drawingml/2006/main" noGrp="1"/>
          </p:cNvSpPr>
          <p:nvPr/>
        </p:nvSpPr>
        <p:spPr>
          <a:xfrm xmlns:a="http://schemas.openxmlformats.org/drawingml/2006/main">
            <a:off x="628650" y="21431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7A4"/>
                </a:solidFill>
                <a:latin typeface="DejaVu Sans"/>
                <a:ea typeface="DejaVu Sans"/>
                <a:cs typeface="DejaVu Sans"/>
              </a:defRPr>
            </a:pPr>
            <a:r>
              <a:rPr sz="1725" b="1">
                <a:solidFill>
                  <a:srgbClr val="0877A4"/>
                </a:solidFill>
                <a:latin typeface="DejaVu Sans"/>
                <a:ea typeface="DejaVu Sans"/>
                <a:cs typeface="DejaVu Sans"/>
              </a:rPr>
              <a:t>NYA</a:t>
            </a:r>
          </a:p>
        </p:txBody>
      </p:sp>
      <p:sp>
        <p:nvSpPr>
          <p:cNvPr id="4" name="">
            <a:extLst xmlns:a="http://schemas.openxmlformats.org/drawingml/2006/main">
              <a:ext uri="{FF2B5EF4-FFF2-40B4-BE49-F238E27FC236}">
                <a16:creationId xmlns:a16="http://schemas.microsoft.com/office/drawing/2014/main" id="{71BAF2E3-7BA0-44F5-9D94-86090B744269}"/>
              </a:ext>
            </a:extLst>
          </p:cNvPr>
          <p:cNvSpPr>
            <a:spLocks xmlns:a="http://schemas.openxmlformats.org/drawingml/2006/main" noGrp="1"/>
          </p:cNvSpPr>
          <p:nvPr/>
        </p:nvSpPr>
        <p:spPr>
          <a:xfrm xmlns:a="http://schemas.openxmlformats.org/drawingml/2006/main">
            <a:off x="628650" y="2762250"/>
            <a:ext cx="4953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D26"/>
                </a:solidFill>
                <a:latin typeface="DejaVu Sans"/>
                <a:ea typeface="DejaVu Sans"/>
                <a:cs typeface="DejaVu Sans"/>
              </a:defRPr>
            </a:pPr>
            <a:r>
              <a:rPr sz="2175" b="0">
                <a:solidFill>
                  <a:srgbClr val="342D26"/>
                </a:solidFill>
                <a:latin typeface="DejaVu Sans"/>
                <a:ea typeface="DejaVu Sans"/>
                <a:cs typeface="DejaVu Sans"/>
              </a:rPr>
              <a:t>Likes avoiding two long walks to the pond.</a:t>
            </a:r>
          </a:p>
          <a:p xmlns:a="http://schemas.openxmlformats.org/drawingml/2006/main">
            <a:r>
              <a:t/>
            </a:r>
          </a:p>
          <a:p xmlns:a="http://schemas.openxmlformats.org/drawingml/2006/main">
            <a:pPr>
              <a:defRPr sz="2175" b="0">
                <a:solidFill>
                  <a:srgbClr val="342D26"/>
                </a:solidFill>
                <a:latin typeface="DejaVu Sans"/>
                <a:ea typeface="DejaVu Sans"/>
                <a:cs typeface="DejaVu Sans"/>
              </a:defRPr>
            </a:pPr>
            <a:r>
              <a:rPr sz="2175" b="0">
                <a:solidFill>
                  <a:srgbClr val="342D26"/>
                </a:solidFill>
                <a:latin typeface="DejaVu Sans"/>
                <a:ea typeface="DejaVu Sans"/>
                <a:cs typeface="DejaVu Sans"/>
              </a:rPr>
              <a:t>Still digs and waits for water.</a:t>
            </a:r>
          </a:p>
        </p:txBody>
      </p:sp>
      <p:sp>
        <p:nvSpPr>
          <p:cNvPr id="5" name="">
            <a:extLst xmlns:a="http://schemas.openxmlformats.org/drawingml/2006/main">
              <a:ext uri="{FF2B5EF4-FFF2-40B4-BE49-F238E27FC236}">
                <a16:creationId xmlns:a16="http://schemas.microsoft.com/office/drawing/2014/main" id="{E54F6AED-3BE6-481A-A138-6A84CE4757EA}"/>
              </a:ext>
            </a:extLst>
          </p:cNvPr>
          <p:cNvSpPr>
            <a:spLocks xmlns:a="http://schemas.openxmlformats.org/drawingml/2006/main" noGrp="1"/>
          </p:cNvSpPr>
          <p:nvPr/>
        </p:nvSpPr>
        <p:spPr>
          <a:xfrm xmlns:a="http://schemas.openxmlformats.org/drawingml/2006/main">
            <a:off x="6438900" y="21431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7A4"/>
                </a:solidFill>
                <a:latin typeface="DejaVu Sans"/>
                <a:ea typeface="DejaVu Sans"/>
                <a:cs typeface="DejaVu Sans"/>
              </a:defRPr>
            </a:pPr>
            <a:r>
              <a:rPr sz="1725" b="1">
                <a:solidFill>
                  <a:srgbClr val="0877A4"/>
                </a:solidFill>
                <a:latin typeface="DejaVu Sans"/>
                <a:ea typeface="DejaVu Sans"/>
                <a:cs typeface="DejaVu Sans"/>
              </a:rPr>
              <a:t>HER MOTHER</a:t>
            </a:r>
          </a:p>
        </p:txBody>
      </p:sp>
      <p:sp>
        <p:nvSpPr>
          <p:cNvPr id="6" name="">
            <a:extLst xmlns:a="http://schemas.openxmlformats.org/drawingml/2006/main">
              <a:ext uri="{FF2B5EF4-FFF2-40B4-BE49-F238E27FC236}">
                <a16:creationId xmlns:a16="http://schemas.microsoft.com/office/drawing/2014/main" id="{0473E709-AF23-44EC-A848-E264E59E606C}"/>
              </a:ext>
            </a:extLst>
          </p:cNvPr>
          <p:cNvSpPr>
            <a:spLocks xmlns:a="http://schemas.openxmlformats.org/drawingml/2006/main" noGrp="1"/>
          </p:cNvSpPr>
          <p:nvPr/>
        </p:nvSpPr>
        <p:spPr>
          <a:xfrm xmlns:a="http://schemas.openxmlformats.org/drawingml/2006/main">
            <a:off x="6438900" y="2762250"/>
            <a:ext cx="5048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D26"/>
                </a:solidFill>
                <a:latin typeface="DejaVu Sans"/>
                <a:ea typeface="DejaVu Sans"/>
                <a:cs typeface="DejaVu Sans"/>
              </a:defRPr>
            </a:pPr>
            <a:r>
              <a:rPr sz="2175" b="0">
                <a:solidFill>
                  <a:srgbClr val="342D26"/>
                </a:solidFill>
                <a:latin typeface="DejaVu Sans"/>
                <a:ea typeface="DejaVu Sans"/>
                <a:cs typeface="DejaVu Sans"/>
              </a:rPr>
              <a:t>Dislikes temporary shelters and missing possessions.</a:t>
            </a:r>
          </a:p>
          <a:p xmlns:a="http://schemas.openxmlformats.org/drawingml/2006/main">
            <a:r>
              <a:t/>
            </a:r>
          </a:p>
          <a:p xmlns:a="http://schemas.openxmlformats.org/drawingml/2006/main">
            <a:pPr>
              <a:defRPr sz="2175" b="0">
                <a:solidFill>
                  <a:srgbClr val="342D26"/>
                </a:solidFill>
                <a:latin typeface="DejaVu Sans"/>
                <a:ea typeface="DejaVu Sans"/>
                <a:cs typeface="DejaVu Sans"/>
              </a:defRPr>
            </a:pPr>
            <a:r>
              <a:rPr sz="2175" b="0">
                <a:solidFill>
                  <a:srgbClr val="342D26"/>
                </a:solidFill>
                <a:latin typeface="DejaVu Sans"/>
                <a:ea typeface="DejaVu Sans"/>
                <a:cs typeface="DejaVu Sans"/>
              </a:rPr>
              <a:t>Fears for the men when they go hunting.</a:t>
            </a:r>
          </a:p>
        </p:txBody>
      </p:sp>
      <p:sp>
        <p:nvSpPr>
          <p:cNvPr id="7" name="">
            <a:extLst xmlns:a="http://schemas.openxmlformats.org/drawingml/2006/main">
              <a:ext uri="{FF2B5EF4-FFF2-40B4-BE49-F238E27FC236}">
                <a16:creationId xmlns:a16="http://schemas.microsoft.com/office/drawing/2014/main" id="{6B1DAC7A-6107-4DE6-AFE4-E418D245A28C}"/>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Can both views make sense at the same time?</a:t>
            </a:r>
          </a:p>
        </p:txBody>
      </p:sp>
      <p:sp>
        <p:nvSpPr>
          <p:cNvPr id="8" name="">
            <a:extLst xmlns:a="http://schemas.openxmlformats.org/drawingml/2006/main">
              <a:ext uri="{FF2B5EF4-FFF2-40B4-BE49-F238E27FC236}">
                <a16:creationId xmlns:a16="http://schemas.microsoft.com/office/drawing/2014/main" id="{62D46D47-D3A2-46C2-90FF-4DAB145364C4}"/>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7 of 15</a:t>
            </a:r>
          </a:p>
        </p:txBody>
      </p:sp>
    </p:spTree>
    <p:extLst>
      <p:ext uri="{BB962C8B-B14F-4D97-AF65-F5344CB8AC3E}">
        <p14:creationId xmlns:p14="http://schemas.microsoft.com/office/powerpoint/2010/main" val="630670305"/>
      </p:ext>
    </p:extLst>
  </p:cSld>
</p:sld>
</file>

<file path=ppt/slides/slide8.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F2B58A-DB06-4457-830A-0C9D0504436A}"/>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CHAPTER 6 / PDF PP. 32–33 / 3 MIN</a:t>
            </a:r>
          </a:p>
        </p:txBody>
      </p:sp>
      <p:sp>
        <p:nvSpPr>
          <p:cNvPr id="2" name="">
            <a:extLst xmlns:a="http://schemas.openxmlformats.org/drawingml/2006/main">
              <a:ext uri="{FF2B5EF4-FFF2-40B4-BE49-F238E27FC236}">
                <a16:creationId xmlns:a16="http://schemas.microsoft.com/office/drawing/2014/main" id="{35DDE60F-EFD6-4DB3-8D4C-17A89483A5C4}"/>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Uncle Jewiir brings support</a:t>
            </a:r>
          </a:p>
        </p:txBody>
      </p:sp>
      <p:sp>
        <p:nvSpPr>
          <p:cNvPr id="3" name="">
            <a:extLst xmlns:a="http://schemas.openxmlformats.org/drawingml/2006/main">
              <a:ext uri="{FF2B5EF4-FFF2-40B4-BE49-F238E27FC236}">
                <a16:creationId xmlns:a16="http://schemas.microsoft.com/office/drawing/2014/main" id="{629AC8CE-DBB3-4458-961C-EF5C9BF376D3}"/>
              </a:ext>
            </a:extLst>
          </p:cNvPr>
          <p:cNvSpPr>
            <a:spLocks xmlns:a="http://schemas.openxmlformats.org/drawingml/2006/main" noGrp="1"/>
          </p:cNvSpPr>
          <p:nvPr/>
        </p:nvSpPr>
        <p:spPr>
          <a:xfrm xmlns:a="http://schemas.openxmlformats.org/drawingml/2006/main">
            <a:off x="628650" y="2076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Salva reunites with his father’s younger brother.</a:t>
            </a:r>
          </a:p>
        </p:txBody>
      </p:sp>
      <p:sp>
        <p:nvSpPr>
          <p:cNvPr id="4" name="">
            <a:extLst xmlns:a="http://schemas.openxmlformats.org/drawingml/2006/main">
              <a:ext uri="{FF2B5EF4-FFF2-40B4-BE49-F238E27FC236}">
                <a16:creationId xmlns:a16="http://schemas.microsoft.com/office/drawing/2014/main" id="{67C6866C-323F-416E-8243-F0F28FCD95BE}"/>
              </a:ext>
            </a:extLst>
          </p:cNvPr>
          <p:cNvSpPr>
            <a:spLocks xmlns:a="http://schemas.openxmlformats.org/drawingml/2006/main" noGrp="1"/>
          </p:cNvSpPr>
          <p:nvPr/>
        </p:nvSpPr>
        <p:spPr>
          <a:xfrm xmlns:a="http://schemas.openxmlformats.org/drawingml/2006/main">
            <a:off x="628650" y="30289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Uncle promises care and becomes a leader in the group.</a:t>
            </a:r>
          </a:p>
        </p:txBody>
      </p:sp>
      <p:sp>
        <p:nvSpPr>
          <p:cNvPr id="5" name="">
            <a:extLst xmlns:a="http://schemas.openxmlformats.org/drawingml/2006/main">
              <a:ext uri="{FF2B5EF4-FFF2-40B4-BE49-F238E27FC236}">
                <a16:creationId xmlns:a16="http://schemas.microsoft.com/office/drawing/2014/main" id="{5C005E56-1657-40A9-A064-B6B0E68B1C8A}"/>
              </a:ext>
            </a:extLst>
          </p:cNvPr>
          <p:cNvSpPr>
            <a:spLocks xmlns:a="http://schemas.openxmlformats.org/drawingml/2006/main" noGrp="1"/>
          </p:cNvSpPr>
          <p:nvPr/>
        </p:nvSpPr>
        <p:spPr>
          <a:xfrm xmlns:a="http://schemas.openxmlformats.org/drawingml/2006/main">
            <a:off x="628650" y="3981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He hunts an antelope, but Salva becomes sick after eating too fast.</a:t>
            </a:r>
          </a:p>
        </p:txBody>
      </p:sp>
      <p:sp>
        <p:nvSpPr>
          <p:cNvPr id="6" name="">
            <a:extLst xmlns:a="http://schemas.openxmlformats.org/drawingml/2006/main">
              <a:ext uri="{FF2B5EF4-FFF2-40B4-BE49-F238E27FC236}">
                <a16:creationId xmlns:a16="http://schemas.microsoft.com/office/drawing/2014/main" id="{71DBD91A-C941-406F-89CA-9C9040912EC2}"/>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How does Uncle help? What problems remain?</a:t>
            </a:r>
          </a:p>
        </p:txBody>
      </p:sp>
      <p:sp>
        <p:nvSpPr>
          <p:cNvPr id="7" name="">
            <a:extLst xmlns:a="http://schemas.openxmlformats.org/drawingml/2006/main">
              <a:ext uri="{FF2B5EF4-FFF2-40B4-BE49-F238E27FC236}">
                <a16:creationId xmlns:a16="http://schemas.microsoft.com/office/drawing/2014/main" id="{4E7AC460-83DC-4436-BDAD-D2D17F99F922}"/>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8 of 15</a:t>
            </a:r>
          </a:p>
        </p:txBody>
      </p:sp>
    </p:spTree>
    <p:extLst>
      <p:ext uri="{BB962C8B-B14F-4D97-AF65-F5344CB8AC3E}">
        <p14:creationId xmlns:p14="http://schemas.microsoft.com/office/powerpoint/2010/main" val="528790963"/>
      </p:ext>
    </p:extLst>
  </p:cSld>
</p:sld>
</file>

<file path=ppt/slides/slide9.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45A18D-A619-4173-AE64-AB43463997FC}"/>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CHAPTER 6 / PDF P. 34 / 2 MIN</a:t>
            </a:r>
          </a:p>
        </p:txBody>
      </p:sp>
      <p:sp>
        <p:nvSpPr>
          <p:cNvPr id="2" name="">
            <a:extLst xmlns:a="http://schemas.openxmlformats.org/drawingml/2006/main">
              <a:ext uri="{FF2B5EF4-FFF2-40B4-BE49-F238E27FC236}">
                <a16:creationId xmlns:a16="http://schemas.microsoft.com/office/drawing/2014/main" id="{240CC09B-DDE0-4B47-9F13-4CB6B87D11EB}"/>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The ending creates suspense</a:t>
            </a:r>
          </a:p>
        </p:txBody>
      </p:sp>
      <p:sp>
        <p:nvSpPr>
          <p:cNvPr id="3" name="">
            <a:extLst xmlns:a="http://schemas.openxmlformats.org/drawingml/2006/main">
              <a:ext uri="{FF2B5EF4-FFF2-40B4-BE49-F238E27FC236}">
                <a16:creationId xmlns:a16="http://schemas.microsoft.com/office/drawing/2014/main" id="{7F865FAB-CFAE-4DB7-B890-3EDA23BD237F}"/>
              </a:ext>
            </a:extLst>
          </p:cNvPr>
          <p:cNvSpPr>
            <a:spLocks xmlns:a="http://schemas.openxmlformats.org/drawingml/2006/main" noGrp="1"/>
          </p:cNvSpPr>
          <p:nvPr/>
        </p:nvSpPr>
        <p:spPr>
          <a:xfrm xmlns:a="http://schemas.openxmlformats.org/drawingml/2006/main">
            <a:off x="628650" y="2076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The group walks through the night searching for water.</a:t>
            </a:r>
          </a:p>
        </p:txBody>
      </p:sp>
      <p:sp>
        <p:nvSpPr>
          <p:cNvPr id="4" name="">
            <a:extLst xmlns:a="http://schemas.openxmlformats.org/drawingml/2006/main">
              <a:ext uri="{FF2B5EF4-FFF2-40B4-BE49-F238E27FC236}">
                <a16:creationId xmlns:a16="http://schemas.microsoft.com/office/drawing/2014/main" id="{1DF70D92-7E40-42DD-81B1-AD057F09F89A}"/>
              </a:ext>
            </a:extLst>
          </p:cNvPr>
          <p:cNvSpPr>
            <a:spLocks xmlns:a="http://schemas.openxmlformats.org/drawingml/2006/main" noGrp="1"/>
          </p:cNvSpPr>
          <p:nvPr/>
        </p:nvSpPr>
        <p:spPr>
          <a:xfrm xmlns:a="http://schemas.openxmlformats.org/drawingml/2006/main">
            <a:off x="628650" y="30289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Salva wakes to crying and Uncle’s solemn expression.</a:t>
            </a:r>
          </a:p>
        </p:txBody>
      </p:sp>
      <p:sp>
        <p:nvSpPr>
          <p:cNvPr id="5" name="">
            <a:extLst xmlns:a="http://schemas.openxmlformats.org/drawingml/2006/main">
              <a:ext uri="{FF2B5EF4-FFF2-40B4-BE49-F238E27FC236}">
                <a16:creationId xmlns:a16="http://schemas.microsoft.com/office/drawing/2014/main" id="{AA6648EB-4236-4D96-B6A9-E46EFBBB8E06}"/>
              </a:ext>
            </a:extLst>
          </p:cNvPr>
          <p:cNvSpPr>
            <a:spLocks xmlns:a="http://schemas.openxmlformats.org/drawingml/2006/main" noGrp="1"/>
          </p:cNvSpPr>
          <p:nvPr/>
        </p:nvSpPr>
        <p:spPr>
          <a:xfrm xmlns:a="http://schemas.openxmlformats.org/drawingml/2006/main">
            <a:off x="628650" y="3981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Marial is missing from Salva’s view. Uncle struggles to explain.</a:t>
            </a:r>
          </a:p>
        </p:txBody>
      </p:sp>
      <p:sp>
        <p:nvSpPr>
          <p:cNvPr id="6" name="">
            <a:extLst xmlns:a="http://schemas.openxmlformats.org/drawingml/2006/main">
              <a:ext uri="{FF2B5EF4-FFF2-40B4-BE49-F238E27FC236}">
                <a16:creationId xmlns:a16="http://schemas.microsoft.com/office/drawing/2014/main" id="{81694045-0145-404A-8D11-4C15F1446C8F}"/>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What can we infer? What still needs confirmation?</a:t>
            </a:r>
          </a:p>
        </p:txBody>
      </p:sp>
      <p:sp>
        <p:nvSpPr>
          <p:cNvPr id="7" name="">
            <a:extLst xmlns:a="http://schemas.openxmlformats.org/drawingml/2006/main">
              <a:ext uri="{FF2B5EF4-FFF2-40B4-BE49-F238E27FC236}">
                <a16:creationId xmlns:a16="http://schemas.microsoft.com/office/drawing/2014/main" id="{55AB87F2-3FA7-4AD1-B5C1-B150AB4A338D}"/>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9 of 15</a:t>
            </a:r>
          </a:p>
        </p:txBody>
      </p:sp>
    </p:spTree>
    <p:extLst>
      <p:ext uri="{BB962C8B-B14F-4D97-AF65-F5344CB8AC3E}">
        <p14:creationId xmlns:p14="http://schemas.microsoft.com/office/powerpoint/2010/main" val="360160606"/>
      </p:ext>
    </p:extLst>
  </p:cSld>
</p:sld>
</file>

<file path=ppt/slides/slide10.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D390E0-3764-413A-94D8-3C93D1899E82}"/>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VOCABULARY / 3 MIN</a:t>
            </a:r>
          </a:p>
        </p:txBody>
      </p:sp>
      <p:sp>
        <p:nvSpPr>
          <p:cNvPr id="2" name="">
            <a:extLst xmlns:a="http://schemas.openxmlformats.org/drawingml/2006/main">
              <a:ext uri="{FF2B5EF4-FFF2-40B4-BE49-F238E27FC236}">
                <a16:creationId xmlns:a16="http://schemas.microsoft.com/office/drawing/2014/main" id="{FE2E3067-67C0-432E-87F9-B8064CF7A77C}"/>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Key words from Chapter 5</a:t>
            </a:r>
          </a:p>
        </p:txBody>
      </p:sp>
      <p:sp>
        <p:nvSpPr>
          <p:cNvPr id="3" name="">
            <a:extLst xmlns:a="http://schemas.openxmlformats.org/drawingml/2006/main">
              <a:ext uri="{FF2B5EF4-FFF2-40B4-BE49-F238E27FC236}">
                <a16:creationId xmlns:a16="http://schemas.microsoft.com/office/drawing/2014/main" id="{5F25A677-2087-43A2-A9BA-27182CEA9AD1}"/>
              </a:ext>
            </a:extLst>
          </p:cNvPr>
          <p:cNvSpPr>
            <a:spLocks xmlns:a="http://schemas.openxmlformats.org/drawingml/2006/main" noGrp="1"/>
          </p:cNvSpPr>
          <p:nvPr/>
        </p:nvSpPr>
        <p:spPr>
          <a:xfrm xmlns:a="http://schemas.openxmlformats.org/drawingml/2006/main">
            <a:off x="628650" y="2076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seep (v.)  move slowly through small spaces</a:t>
            </a:r>
          </a:p>
        </p:txBody>
      </p:sp>
      <p:sp>
        <p:nvSpPr>
          <p:cNvPr id="4" name="">
            <a:extLst xmlns:a="http://schemas.openxmlformats.org/drawingml/2006/main">
              <a:ext uri="{FF2B5EF4-FFF2-40B4-BE49-F238E27FC236}">
                <a16:creationId xmlns:a16="http://schemas.microsoft.com/office/drawing/2014/main" id="{1623FA4E-8ACA-4259-96D5-2882B266DE13}"/>
              </a:ext>
            </a:extLst>
          </p:cNvPr>
          <p:cNvSpPr>
            <a:spLocks xmlns:a="http://schemas.openxmlformats.org/drawingml/2006/main" noGrp="1"/>
          </p:cNvSpPr>
          <p:nvPr/>
        </p:nvSpPr>
        <p:spPr>
          <a:xfrm xmlns:a="http://schemas.openxmlformats.org/drawingml/2006/main">
            <a:off x="628650" y="30289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gingerly (adv.)  carefully, to avoid pain or damage</a:t>
            </a:r>
          </a:p>
        </p:txBody>
      </p:sp>
      <p:sp>
        <p:nvSpPr>
          <p:cNvPr id="5" name="">
            <a:extLst xmlns:a="http://schemas.openxmlformats.org/drawingml/2006/main">
              <a:ext uri="{FF2B5EF4-FFF2-40B4-BE49-F238E27FC236}">
                <a16:creationId xmlns:a16="http://schemas.microsoft.com/office/drawing/2014/main" id="{442BA51B-04F6-4B97-A391-209BE5C454A9}"/>
              </a:ext>
            </a:extLst>
          </p:cNvPr>
          <p:cNvSpPr>
            <a:spLocks xmlns:a="http://schemas.openxmlformats.org/drawingml/2006/main" noGrp="1"/>
          </p:cNvSpPr>
          <p:nvPr/>
        </p:nvSpPr>
        <p:spPr>
          <a:xfrm xmlns:a="http://schemas.openxmlformats.org/drawingml/2006/main">
            <a:off x="628650" y="3981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survey (v.)  look over an area or group</a:t>
            </a:r>
          </a:p>
        </p:txBody>
      </p:sp>
      <p:sp>
        <p:nvSpPr>
          <p:cNvPr id="6" name="">
            <a:extLst xmlns:a="http://schemas.openxmlformats.org/drawingml/2006/main">
              <a:ext uri="{FF2B5EF4-FFF2-40B4-BE49-F238E27FC236}">
                <a16:creationId xmlns:a16="http://schemas.microsoft.com/office/drawing/2014/main" id="{33050909-7DCC-4B46-840E-1C56CF45759E}"/>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Why does Salva survey the travelers each day?</a:t>
            </a:r>
          </a:p>
        </p:txBody>
      </p:sp>
      <p:sp>
        <p:nvSpPr>
          <p:cNvPr id="7" name="">
            <a:extLst xmlns:a="http://schemas.openxmlformats.org/drawingml/2006/main">
              <a:ext uri="{FF2B5EF4-FFF2-40B4-BE49-F238E27FC236}">
                <a16:creationId xmlns:a16="http://schemas.microsoft.com/office/drawing/2014/main" id="{0AC30227-8B21-48FC-ADBA-4B90D1184A5A}"/>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10 of 15</a:t>
            </a:r>
          </a:p>
        </p:txBody>
      </p:sp>
    </p:spTree>
    <p:extLst>
      <p:ext uri="{BB962C8B-B14F-4D97-AF65-F5344CB8AC3E}">
        <p14:creationId xmlns:p14="http://schemas.microsoft.com/office/powerpoint/2010/main" val="778944328"/>
      </p:ext>
    </p:extLst>
  </p:cSld>
</p:sld>
</file>

<file path=ppt/slides/slide11.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4305BD-3F56-4CA6-8DCE-8381B29DA16F}"/>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VOCABULARY / 2 MIN</a:t>
            </a:r>
          </a:p>
        </p:txBody>
      </p:sp>
      <p:sp>
        <p:nvSpPr>
          <p:cNvPr id="2" name="">
            <a:extLst xmlns:a="http://schemas.openxmlformats.org/drawingml/2006/main">
              <a:ext uri="{FF2B5EF4-FFF2-40B4-BE49-F238E27FC236}">
                <a16:creationId xmlns:a16="http://schemas.microsoft.com/office/drawing/2014/main" id="{2073E1F5-FF18-41BA-9688-5D69DB9A5F9B}"/>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Key words from Chapter 6</a:t>
            </a:r>
          </a:p>
        </p:txBody>
      </p:sp>
      <p:sp>
        <p:nvSpPr>
          <p:cNvPr id="3" name="">
            <a:extLst xmlns:a="http://schemas.openxmlformats.org/drawingml/2006/main">
              <a:ext uri="{FF2B5EF4-FFF2-40B4-BE49-F238E27FC236}">
                <a16:creationId xmlns:a16="http://schemas.microsoft.com/office/drawing/2014/main" id="{1355D077-3089-49E3-940B-6A3CB4F5B8AE}"/>
              </a:ext>
            </a:extLst>
          </p:cNvPr>
          <p:cNvSpPr>
            <a:spLocks xmlns:a="http://schemas.openxmlformats.org/drawingml/2006/main" noGrp="1"/>
          </p:cNvSpPr>
          <p:nvPr/>
        </p:nvSpPr>
        <p:spPr>
          <a:xfrm xmlns:a="http://schemas.openxmlformats.org/drawingml/2006/main">
            <a:off x="628650" y="2076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makeshift (adj.)  made for temporary use</a:t>
            </a:r>
          </a:p>
        </p:txBody>
      </p:sp>
      <p:sp>
        <p:nvSpPr>
          <p:cNvPr id="4" name="">
            <a:extLst xmlns:a="http://schemas.openxmlformats.org/drawingml/2006/main">
              <a:ext uri="{FF2B5EF4-FFF2-40B4-BE49-F238E27FC236}">
                <a16:creationId xmlns:a16="http://schemas.microsoft.com/office/drawing/2014/main" id="{381BA887-9CEF-44DE-B25F-7B22F8C2B14D}"/>
              </a:ext>
            </a:extLst>
          </p:cNvPr>
          <p:cNvSpPr>
            <a:spLocks xmlns:a="http://schemas.openxmlformats.org/drawingml/2006/main" noGrp="1"/>
          </p:cNvSpPr>
          <p:nvPr/>
        </p:nvSpPr>
        <p:spPr>
          <a:xfrm xmlns:a="http://schemas.openxmlformats.org/drawingml/2006/main">
            <a:off x="628650" y="30289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solemn (adj.)  serious, often with sadness</a:t>
            </a:r>
          </a:p>
        </p:txBody>
      </p:sp>
      <p:sp>
        <p:nvSpPr>
          <p:cNvPr id="5" name="">
            <a:extLst xmlns:a="http://schemas.openxmlformats.org/drawingml/2006/main">
              <a:ext uri="{FF2B5EF4-FFF2-40B4-BE49-F238E27FC236}">
                <a16:creationId xmlns:a16="http://schemas.microsoft.com/office/drawing/2014/main" id="{415DBC6C-56DB-4191-BE74-72562F5FBC83}"/>
              </a:ext>
            </a:extLst>
          </p:cNvPr>
          <p:cNvSpPr>
            <a:spLocks xmlns:a="http://schemas.openxmlformats.org/drawingml/2006/main" noGrp="1"/>
          </p:cNvSpPr>
          <p:nvPr/>
        </p:nvSpPr>
        <p:spPr>
          <a:xfrm xmlns:a="http://schemas.openxmlformats.org/drawingml/2006/main">
            <a:off x="628650" y="3981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exhausted (adj.)  extremely tired</a:t>
            </a:r>
          </a:p>
        </p:txBody>
      </p:sp>
      <p:sp>
        <p:nvSpPr>
          <p:cNvPr id="6" name="">
            <a:extLst xmlns:a="http://schemas.openxmlformats.org/drawingml/2006/main">
              <a:ext uri="{FF2B5EF4-FFF2-40B4-BE49-F238E27FC236}">
                <a16:creationId xmlns:a16="http://schemas.microsoft.com/office/drawing/2014/main" id="{02DF1585-6C8C-4652-8D46-CF3AC0782372}"/>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Which word describes the travelers after ten hours of walking?</a:t>
            </a:r>
          </a:p>
        </p:txBody>
      </p:sp>
      <p:sp>
        <p:nvSpPr>
          <p:cNvPr id="7" name="">
            <a:extLst xmlns:a="http://schemas.openxmlformats.org/drawingml/2006/main">
              <a:ext uri="{FF2B5EF4-FFF2-40B4-BE49-F238E27FC236}">
                <a16:creationId xmlns:a16="http://schemas.microsoft.com/office/drawing/2014/main" id="{C56A0977-1354-440F-83D6-4D0A06FAB465}"/>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11 of 15</a:t>
            </a:r>
          </a:p>
        </p:txBody>
      </p:sp>
    </p:spTree>
    <p:extLst>
      <p:ext uri="{BB962C8B-B14F-4D97-AF65-F5344CB8AC3E}">
        <p14:creationId xmlns:p14="http://schemas.microsoft.com/office/powerpoint/2010/main" val="1142221053"/>
      </p:ext>
    </p:extLst>
  </p:cSld>
</p:sld>
</file>

<file path=ppt/slides/slide12.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69BF60-DF32-4465-9ABE-5E2CE59B6CF9}"/>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RETRIEVAL / 2 MIN</a:t>
            </a:r>
          </a:p>
        </p:txBody>
      </p:sp>
      <p:sp>
        <p:nvSpPr>
          <p:cNvPr id="2" name="">
            <a:extLst xmlns:a="http://schemas.openxmlformats.org/drawingml/2006/main">
              <a:ext uri="{FF2B5EF4-FFF2-40B4-BE49-F238E27FC236}">
                <a16:creationId xmlns:a16="http://schemas.microsoft.com/office/drawing/2014/main" id="{0822BE8E-6229-44EA-B001-2D7655843B7A}"/>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Quick check</a:t>
            </a:r>
          </a:p>
        </p:txBody>
      </p:sp>
      <p:sp>
        <p:nvSpPr>
          <p:cNvPr id="3" name="">
            <a:extLst xmlns:a="http://schemas.openxmlformats.org/drawingml/2006/main">
              <a:ext uri="{FF2B5EF4-FFF2-40B4-BE49-F238E27FC236}">
                <a16:creationId xmlns:a16="http://schemas.microsoft.com/office/drawing/2014/main" id="{7EDB18F3-6602-4119-AD6B-9767D728AA5C}"/>
              </a:ext>
            </a:extLst>
          </p:cNvPr>
          <p:cNvSpPr>
            <a:spLocks xmlns:a="http://schemas.openxmlformats.org/drawingml/2006/main" noGrp="1"/>
          </p:cNvSpPr>
          <p:nvPr/>
        </p:nvSpPr>
        <p:spPr>
          <a:xfrm xmlns:a="http://schemas.openxmlformats.org/drawingml/2006/main">
            <a:off x="628650" y="2076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1. Water begins to _____ into the hole. (seep / survey)</a:t>
            </a:r>
          </a:p>
        </p:txBody>
      </p:sp>
      <p:sp>
        <p:nvSpPr>
          <p:cNvPr id="4" name="">
            <a:extLst xmlns:a="http://schemas.openxmlformats.org/drawingml/2006/main">
              <a:ext uri="{FF2B5EF4-FFF2-40B4-BE49-F238E27FC236}">
                <a16:creationId xmlns:a16="http://schemas.microsoft.com/office/drawing/2014/main" id="{5A657EBF-56F6-4FE3-8E28-2D4C3EDADDCE}"/>
              </a:ext>
            </a:extLst>
          </p:cNvPr>
          <p:cNvSpPr>
            <a:spLocks xmlns:a="http://schemas.openxmlformats.org/drawingml/2006/main" noGrp="1"/>
          </p:cNvSpPr>
          <p:nvPr/>
        </p:nvSpPr>
        <p:spPr>
          <a:xfrm xmlns:a="http://schemas.openxmlformats.org/drawingml/2006/main">
            <a:off x="628650" y="2838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2. A temporary shelter is _____. (solemn / makeshift)</a:t>
            </a:r>
          </a:p>
        </p:txBody>
      </p:sp>
      <p:sp>
        <p:nvSpPr>
          <p:cNvPr id="5" name="">
            <a:extLst xmlns:a="http://schemas.openxmlformats.org/drawingml/2006/main">
              <a:ext uri="{FF2B5EF4-FFF2-40B4-BE49-F238E27FC236}">
                <a16:creationId xmlns:a16="http://schemas.microsoft.com/office/drawing/2014/main" id="{63601363-5EF4-420E-9BF5-5CADDF36F7A4}"/>
              </a:ext>
            </a:extLst>
          </p:cNvPr>
          <p:cNvSpPr>
            <a:spLocks xmlns:a="http://schemas.openxmlformats.org/drawingml/2006/main" noGrp="1"/>
          </p:cNvSpPr>
          <p:nvPr/>
        </p:nvSpPr>
        <p:spPr>
          <a:xfrm xmlns:a="http://schemas.openxmlformats.org/drawingml/2006/main">
            <a:off x="628650" y="3600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3. Why does Salva keep looking at the newcomers?</a:t>
            </a:r>
          </a:p>
        </p:txBody>
      </p:sp>
      <p:sp>
        <p:nvSpPr>
          <p:cNvPr id="6" name="">
            <a:extLst xmlns:a="http://schemas.openxmlformats.org/drawingml/2006/main">
              <a:ext uri="{FF2B5EF4-FFF2-40B4-BE49-F238E27FC236}">
                <a16:creationId xmlns:a16="http://schemas.microsoft.com/office/drawing/2014/main" id="{93190CAC-D7B8-4753-85BF-E248E816CC55}"/>
              </a:ext>
            </a:extLst>
          </p:cNvPr>
          <p:cNvSpPr>
            <a:spLocks xmlns:a="http://schemas.openxmlformats.org/drawingml/2006/main" noGrp="1"/>
          </p:cNvSpPr>
          <p:nvPr/>
        </p:nvSpPr>
        <p:spPr>
          <a:xfrm xmlns:a="http://schemas.openxmlformats.org/drawingml/2006/main">
            <a:off x="628650" y="4362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4. Name one way Marial helps Salva.</a:t>
            </a:r>
          </a:p>
        </p:txBody>
      </p:sp>
      <p:sp>
        <p:nvSpPr>
          <p:cNvPr id="7" name="">
            <a:extLst xmlns:a="http://schemas.openxmlformats.org/drawingml/2006/main">
              <a:ext uri="{FF2B5EF4-FFF2-40B4-BE49-F238E27FC236}">
                <a16:creationId xmlns:a16="http://schemas.microsoft.com/office/drawing/2014/main" id="{D0D54CEC-BF03-44FA-BDFB-64DEBD229CC9}"/>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12 of 15</a:t>
            </a:r>
          </a:p>
        </p:txBody>
      </p:sp>
    </p:spTree>
    <p:extLst>
      <p:ext uri="{BB962C8B-B14F-4D97-AF65-F5344CB8AC3E}">
        <p14:creationId xmlns:p14="http://schemas.microsoft.com/office/powerpoint/2010/main" val="577567887"/>
      </p:ext>
    </p:extLst>
  </p:cSld>
</p:sld>
</file>

<file path=ppt/slides/slide13.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C7DC5F-703A-41FA-B5FE-BA7665EE45C5}"/>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SHORT WRITING / 3 MIN</a:t>
            </a:r>
          </a:p>
        </p:txBody>
      </p:sp>
      <p:sp>
        <p:nvSpPr>
          <p:cNvPr id="2" name="">
            <a:extLst xmlns:a="http://schemas.openxmlformats.org/drawingml/2006/main">
              <a:ext uri="{FF2B5EF4-FFF2-40B4-BE49-F238E27FC236}">
                <a16:creationId xmlns:a16="http://schemas.microsoft.com/office/drawing/2014/main" id="{315DD6FD-4CAF-4A1F-BF1F-C4C7840B2A76}"/>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Support during the journey</a:t>
            </a:r>
          </a:p>
        </p:txBody>
      </p:sp>
      <p:sp>
        <p:nvSpPr>
          <p:cNvPr id="3" name="">
            <a:extLst xmlns:a="http://schemas.openxmlformats.org/drawingml/2006/main">
              <a:ext uri="{FF2B5EF4-FFF2-40B4-BE49-F238E27FC236}">
                <a16:creationId xmlns:a16="http://schemas.microsoft.com/office/drawing/2014/main" id="{EAD53958-997C-4544-BB36-6EE2921F0993}"/>
              </a:ext>
            </a:extLst>
          </p:cNvPr>
          <p:cNvSpPr>
            <a:spLocks xmlns:a="http://schemas.openxmlformats.org/drawingml/2006/main" noGrp="1"/>
          </p:cNvSpPr>
          <p:nvPr/>
        </p:nvSpPr>
        <p:spPr>
          <a:xfrm xmlns:a="http://schemas.openxmlformats.org/drawingml/2006/main">
            <a:off x="628650" y="2076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How do Marial and Uncle help Salva in different ways?</a:t>
            </a:r>
          </a:p>
        </p:txBody>
      </p:sp>
      <p:sp>
        <p:nvSpPr>
          <p:cNvPr id="4" name="">
            <a:extLst xmlns:a="http://schemas.openxmlformats.org/drawingml/2006/main">
              <a:ext uri="{FF2B5EF4-FFF2-40B4-BE49-F238E27FC236}">
                <a16:creationId xmlns:a16="http://schemas.microsoft.com/office/drawing/2014/main" id="{793BEF99-A9DE-4914-9E33-C4EAD89C0D2B}"/>
              </a:ext>
            </a:extLst>
          </p:cNvPr>
          <p:cNvSpPr>
            <a:spLocks xmlns:a="http://schemas.openxmlformats.org/drawingml/2006/main" noGrp="1"/>
          </p:cNvSpPr>
          <p:nvPr/>
        </p:nvSpPr>
        <p:spPr>
          <a:xfrm xmlns:a="http://schemas.openxmlformats.org/drawingml/2006/main">
            <a:off x="628650" y="2838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Marial helps Salva by _____.</a:t>
            </a:r>
          </a:p>
        </p:txBody>
      </p:sp>
      <p:sp>
        <p:nvSpPr>
          <p:cNvPr id="5" name="">
            <a:extLst xmlns:a="http://schemas.openxmlformats.org/drawingml/2006/main">
              <a:ext uri="{FF2B5EF4-FFF2-40B4-BE49-F238E27FC236}">
                <a16:creationId xmlns:a16="http://schemas.microsoft.com/office/drawing/2014/main" id="{911AA8F2-DDAC-413B-80C4-B657F9297D35}"/>
              </a:ext>
            </a:extLst>
          </p:cNvPr>
          <p:cNvSpPr>
            <a:spLocks xmlns:a="http://schemas.openxmlformats.org/drawingml/2006/main" noGrp="1"/>
          </p:cNvSpPr>
          <p:nvPr/>
        </p:nvSpPr>
        <p:spPr>
          <a:xfrm xmlns:a="http://schemas.openxmlformats.org/drawingml/2006/main">
            <a:off x="628650" y="3600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Uncle helps him by _____.</a:t>
            </a:r>
          </a:p>
        </p:txBody>
      </p:sp>
      <p:sp>
        <p:nvSpPr>
          <p:cNvPr id="6" name="">
            <a:extLst xmlns:a="http://schemas.openxmlformats.org/drawingml/2006/main">
              <a:ext uri="{FF2B5EF4-FFF2-40B4-BE49-F238E27FC236}">
                <a16:creationId xmlns:a16="http://schemas.microsoft.com/office/drawing/2014/main" id="{675D28CA-FA9B-4BF4-BCCA-03315CB0845A}"/>
              </a:ext>
            </a:extLst>
          </p:cNvPr>
          <p:cNvSpPr>
            <a:spLocks xmlns:a="http://schemas.openxmlformats.org/drawingml/2006/main" noGrp="1"/>
          </p:cNvSpPr>
          <p:nvPr/>
        </p:nvSpPr>
        <p:spPr>
          <a:xfrm xmlns:a="http://schemas.openxmlformats.org/drawingml/2006/main">
            <a:off x="628650" y="4362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These relationships show that _____.</a:t>
            </a:r>
          </a:p>
        </p:txBody>
      </p:sp>
      <p:sp>
        <p:nvSpPr>
          <p:cNvPr id="7" name="">
            <a:extLst xmlns:a="http://schemas.openxmlformats.org/drawingml/2006/main">
              <a:ext uri="{FF2B5EF4-FFF2-40B4-BE49-F238E27FC236}">
                <a16:creationId xmlns:a16="http://schemas.microsoft.com/office/drawing/2014/main" id="{692B37B6-6271-4779-B390-350B50808E8B}"/>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Write 3–4 sentences. Include one detail about each person.</a:t>
            </a:r>
          </a:p>
        </p:txBody>
      </p:sp>
      <p:sp>
        <p:nvSpPr>
          <p:cNvPr id="8" name="">
            <a:extLst xmlns:a="http://schemas.openxmlformats.org/drawingml/2006/main">
              <a:ext uri="{FF2B5EF4-FFF2-40B4-BE49-F238E27FC236}">
                <a16:creationId xmlns:a16="http://schemas.microsoft.com/office/drawing/2014/main" id="{1C83BE70-7C3C-463B-A79E-35F5477DF874}"/>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13 of 15</a:t>
            </a:r>
          </a:p>
        </p:txBody>
      </p:sp>
    </p:spTree>
    <p:extLst>
      <p:ext uri="{BB962C8B-B14F-4D97-AF65-F5344CB8AC3E}">
        <p14:creationId xmlns:p14="http://schemas.microsoft.com/office/powerpoint/2010/main" val="1728841474"/>
      </p:ext>
    </p:extLst>
  </p:cSld>
</p:sld>
</file>

<file path=ppt/slides/slide14.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3F65F1-74AC-4513-BF0D-A9B67DFD5B26}"/>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ONE MINUTE</a:t>
            </a:r>
          </a:p>
        </p:txBody>
      </p:sp>
      <p:sp>
        <p:nvSpPr>
          <p:cNvPr id="2" name="">
            <a:extLst xmlns:a="http://schemas.openxmlformats.org/drawingml/2006/main">
              <a:ext uri="{FF2B5EF4-FFF2-40B4-BE49-F238E27FC236}">
                <a16:creationId xmlns:a16="http://schemas.microsoft.com/office/drawing/2014/main" id="{E26EBB69-8F86-41C4-AD63-62BD66C94FF6}"/>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Exit ticket</a:t>
            </a:r>
          </a:p>
        </p:txBody>
      </p:sp>
      <p:sp>
        <p:nvSpPr>
          <p:cNvPr id="3" name="">
            <a:extLst xmlns:a="http://schemas.openxmlformats.org/drawingml/2006/main">
              <a:ext uri="{FF2B5EF4-FFF2-40B4-BE49-F238E27FC236}">
                <a16:creationId xmlns:a16="http://schemas.microsoft.com/office/drawing/2014/main" id="{0321E4D0-A050-4116-88BC-35152A0D3532}"/>
              </a:ext>
            </a:extLst>
          </p:cNvPr>
          <p:cNvSpPr>
            <a:spLocks xmlns:a="http://schemas.openxmlformats.org/drawingml/2006/main" noGrp="1"/>
          </p:cNvSpPr>
          <p:nvPr/>
        </p:nvSpPr>
        <p:spPr>
          <a:xfrm xmlns:a="http://schemas.openxmlformats.org/drawingml/2006/main">
            <a:off x="628650" y="2076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Name one risk that food or companionship cannot remove.</a:t>
            </a:r>
          </a:p>
        </p:txBody>
      </p:sp>
      <p:sp>
        <p:nvSpPr>
          <p:cNvPr id="4" name="">
            <a:extLst xmlns:a="http://schemas.openxmlformats.org/drawingml/2006/main">
              <a:ext uri="{FF2B5EF4-FFF2-40B4-BE49-F238E27FC236}">
                <a16:creationId xmlns:a16="http://schemas.microsoft.com/office/drawing/2014/main" id="{759D2D50-EFC8-41A5-A77B-8B4075A943EE}"/>
              </a:ext>
            </a:extLst>
          </p:cNvPr>
          <p:cNvSpPr>
            <a:spLocks xmlns:a="http://schemas.openxmlformats.org/drawingml/2006/main" noGrp="1"/>
          </p:cNvSpPr>
          <p:nvPr/>
        </p:nvSpPr>
        <p:spPr>
          <a:xfrm xmlns:a="http://schemas.openxmlformats.org/drawingml/2006/main">
            <a:off x="628650" y="30289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Support your answer with a detail from Chapters 5–6.</a:t>
            </a:r>
          </a:p>
        </p:txBody>
      </p:sp>
      <p:sp>
        <p:nvSpPr>
          <p:cNvPr id="5" name="">
            <a:extLst xmlns:a="http://schemas.openxmlformats.org/drawingml/2006/main">
              <a:ext uri="{FF2B5EF4-FFF2-40B4-BE49-F238E27FC236}">
                <a16:creationId xmlns:a16="http://schemas.microsoft.com/office/drawing/2014/main" id="{3B150B01-9DB3-4F38-8F85-EF3A3C5735EE}"/>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Optional challenge: How does Nya’s mother share this worry?</a:t>
            </a:r>
          </a:p>
        </p:txBody>
      </p:sp>
      <p:sp>
        <p:nvSpPr>
          <p:cNvPr id="6" name="">
            <a:extLst xmlns:a="http://schemas.openxmlformats.org/drawingml/2006/main">
              <a:ext uri="{FF2B5EF4-FFF2-40B4-BE49-F238E27FC236}">
                <a16:creationId xmlns:a16="http://schemas.microsoft.com/office/drawing/2014/main" id="{FCC60B85-DEAE-4290-83E5-CC6EC4412EA8}"/>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14 of 15</a:t>
            </a:r>
          </a:p>
        </p:txBody>
      </p:sp>
    </p:spTree>
    <p:extLst>
      <p:ext uri="{BB962C8B-B14F-4D97-AF65-F5344CB8AC3E}">
        <p14:creationId xmlns:p14="http://schemas.microsoft.com/office/powerpoint/2010/main" val="1813047634"/>
      </p:ext>
    </p:extLst>
  </p:cSld>
</p:sld>
</file>

<file path=ppt/slides/slide15.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FDFF73-6E75-4088-BA32-D7628CE72FE2}"/>
              </a:ext>
            </a:extLst>
          </p:cNvPr>
          <p:cNvSpPr>
            <a:spLocks xmlns:a="http://schemas.openxmlformats.org/drawingml/2006/main" noGrp="1"/>
          </p:cNvSpPr>
          <p:nvPr/>
        </p:nvSpPr>
        <p:spPr>
          <a:xfrm xmlns:a="http://schemas.openxmlformats.org/drawingml/2006/main">
            <a:off x="628650" y="438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7A4"/>
                </a:solidFill>
                <a:latin typeface="DejaVu Sans"/>
                <a:ea typeface="DejaVu Sans"/>
                <a:cs typeface="DejaVu Sans"/>
              </a:defRPr>
            </a:pPr>
            <a:r>
              <a:rPr sz="1275" b="1">
                <a:solidFill>
                  <a:srgbClr val="0877A4"/>
                </a:solidFill>
                <a:latin typeface="DejaVu Sans"/>
                <a:ea typeface="DejaVu Sans"/>
                <a:cs typeface="DejaVu Sans"/>
              </a:rPr>
              <a:t>REVIEW / 2 MIN</a:t>
            </a:r>
          </a:p>
        </p:txBody>
      </p:sp>
      <p:sp>
        <p:nvSpPr>
          <p:cNvPr id="2" name="">
            <a:extLst xmlns:a="http://schemas.openxmlformats.org/drawingml/2006/main">
              <a:ext uri="{FF2B5EF4-FFF2-40B4-BE49-F238E27FC236}">
                <a16:creationId xmlns:a16="http://schemas.microsoft.com/office/drawing/2014/main" id="{BAFF8D62-F6CA-46DC-91B0-8CA64FC68FD8}"/>
              </a:ext>
            </a:extLst>
          </p:cNvPr>
          <p:cNvSpPr>
            <a:spLocks xmlns:a="http://schemas.openxmlformats.org/drawingml/2006/main" noGrp="1"/>
          </p:cNvSpPr>
          <p:nvPr/>
        </p:nvSpPr>
        <p:spPr>
          <a:xfrm xmlns:a="http://schemas.openxmlformats.org/drawingml/2006/main">
            <a:off x="628650" y="10096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42D26"/>
                </a:solidFill>
                <a:latin typeface="DejaVu Serif"/>
                <a:ea typeface="DejaVu Serif"/>
                <a:cs typeface="DejaVu Serif"/>
              </a:defRPr>
            </a:pPr>
            <a:r>
              <a:rPr sz="3150" b="1">
                <a:solidFill>
                  <a:srgbClr val="342D26"/>
                </a:solidFill>
                <a:latin typeface="DejaVu Serif"/>
                <a:ea typeface="DejaVu Serif"/>
                <a:cs typeface="DejaVu Serif"/>
              </a:rPr>
              <a:t>After class</a:t>
            </a:r>
          </a:p>
        </p:txBody>
      </p:sp>
      <p:sp>
        <p:nvSpPr>
          <p:cNvPr id="3" name="">
            <a:extLst xmlns:a="http://schemas.openxmlformats.org/drawingml/2006/main">
              <a:ext uri="{FF2B5EF4-FFF2-40B4-BE49-F238E27FC236}">
                <a16:creationId xmlns:a16="http://schemas.microsoft.com/office/drawing/2014/main" id="{2232E1A8-3D62-43FB-9F4B-D0C4EAA146E1}"/>
              </a:ext>
            </a:extLst>
          </p:cNvPr>
          <p:cNvSpPr>
            <a:spLocks xmlns:a="http://schemas.openxmlformats.org/drawingml/2006/main" noGrp="1"/>
          </p:cNvSpPr>
          <p:nvPr/>
        </p:nvSpPr>
        <p:spPr>
          <a:xfrm xmlns:a="http://schemas.openxmlformats.org/drawingml/2006/main">
            <a:off x="628650" y="2076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Review the six starred words in the handout.</a:t>
            </a:r>
          </a:p>
        </p:txBody>
      </p:sp>
      <p:sp>
        <p:nvSpPr>
          <p:cNvPr id="4" name="">
            <a:extLst xmlns:a="http://schemas.openxmlformats.org/drawingml/2006/main">
              <a:ext uri="{FF2B5EF4-FFF2-40B4-BE49-F238E27FC236}">
                <a16:creationId xmlns:a16="http://schemas.microsoft.com/office/drawing/2014/main" id="{7FAEA004-185A-44FD-B37F-BD9B9F8F6C80}"/>
              </a:ext>
            </a:extLst>
          </p:cNvPr>
          <p:cNvSpPr>
            <a:spLocks xmlns:a="http://schemas.openxmlformats.org/drawingml/2006/main" noGrp="1"/>
          </p:cNvSpPr>
          <p:nvPr/>
        </p:nvSpPr>
        <p:spPr>
          <a:xfrm xmlns:a="http://schemas.openxmlformats.org/drawingml/2006/main">
            <a:off x="628650" y="2838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Write three original sentences using new vocabulary.</a:t>
            </a:r>
          </a:p>
        </p:txBody>
      </p:sp>
      <p:sp>
        <p:nvSpPr>
          <p:cNvPr id="5" name="">
            <a:extLst xmlns:a="http://schemas.openxmlformats.org/drawingml/2006/main">
              <a:ext uri="{FF2B5EF4-FFF2-40B4-BE49-F238E27FC236}">
                <a16:creationId xmlns:a16="http://schemas.microsoft.com/office/drawing/2014/main" id="{1A5DD3BD-C93F-4555-BB43-CF4E53C011CD}"/>
              </a:ext>
            </a:extLst>
          </p:cNvPr>
          <p:cNvSpPr>
            <a:spLocks xmlns:a="http://schemas.openxmlformats.org/drawingml/2006/main" noGrp="1"/>
          </p:cNvSpPr>
          <p:nvPr/>
        </p:nvSpPr>
        <p:spPr>
          <a:xfrm xmlns:a="http://schemas.openxmlformats.org/drawingml/2006/main">
            <a:off x="628650" y="3600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Finish the short paragraph if needed.</a:t>
            </a:r>
          </a:p>
        </p:txBody>
      </p:sp>
      <p:sp>
        <p:nvSpPr>
          <p:cNvPr id="6" name="">
            <a:extLst xmlns:a="http://schemas.openxmlformats.org/drawingml/2006/main">
              <a:ext uri="{FF2B5EF4-FFF2-40B4-BE49-F238E27FC236}">
                <a16:creationId xmlns:a16="http://schemas.microsoft.com/office/drawing/2014/main" id="{5868216F-701D-4295-B9B9-5AB041A5DE5F}"/>
              </a:ext>
            </a:extLst>
          </p:cNvPr>
          <p:cNvSpPr>
            <a:spLocks xmlns:a="http://schemas.openxmlformats.org/drawingml/2006/main" noGrp="1"/>
          </p:cNvSpPr>
          <p:nvPr/>
        </p:nvSpPr>
        <p:spPr>
          <a:xfrm xmlns:a="http://schemas.openxmlformats.org/drawingml/2006/main">
            <a:off x="628650" y="4362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D26"/>
                </a:solidFill>
                <a:latin typeface="DejaVu Sans"/>
                <a:ea typeface="DejaVu Sans"/>
                <a:cs typeface="DejaVu Sans"/>
              </a:defRPr>
            </a:pPr>
            <a:r>
              <a:rPr sz="2250" b="0">
                <a:solidFill>
                  <a:srgbClr val="342D26"/>
                </a:solidFill>
                <a:latin typeface="DejaVu Sans"/>
                <a:ea typeface="DejaVu Sans"/>
                <a:cs typeface="DejaVu Sans"/>
              </a:rPr>
              <a:t>Read Chapters 7–8 before our next discussion.</a:t>
            </a:r>
          </a:p>
        </p:txBody>
      </p:sp>
      <p:sp>
        <p:nvSpPr>
          <p:cNvPr id="7" name="">
            <a:extLst xmlns:a="http://schemas.openxmlformats.org/drawingml/2006/main">
              <a:ext uri="{FF2B5EF4-FFF2-40B4-BE49-F238E27FC236}">
                <a16:creationId xmlns:a16="http://schemas.microsoft.com/office/drawing/2014/main" id="{DD4B5A91-834D-4569-8109-D52599185103}"/>
              </a:ext>
            </a:extLst>
          </p:cNvPr>
          <p:cNvSpPr>
            <a:spLocks xmlns:a="http://schemas.openxmlformats.org/drawingml/2006/main" noGrp="1"/>
          </p:cNvSpPr>
          <p:nvPr/>
        </p:nvSpPr>
        <p:spPr>
          <a:xfrm xmlns:a="http://schemas.openxmlformats.org/drawingml/2006/main">
            <a:off x="6286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7A4"/>
                </a:solidFill>
                <a:latin typeface="DejaVu Sans"/>
                <a:ea typeface="DejaVu Sans"/>
                <a:cs typeface="DejaVu Sans"/>
              </a:defRPr>
            </a:pPr>
            <a:r>
              <a:rPr sz="1950" b="1">
                <a:solidFill>
                  <a:srgbClr val="0877A4"/>
                </a:solidFill>
                <a:latin typeface="DejaVu Sans"/>
                <a:ea typeface="DejaVu Sans"/>
                <a:cs typeface="DejaVu Sans"/>
              </a:rPr>
              <a:t>What question would you like the next chapters to answer?</a:t>
            </a:r>
          </a:p>
        </p:txBody>
      </p:sp>
      <p:sp>
        <p:nvSpPr>
          <p:cNvPr id="8" name="">
            <a:extLst xmlns:a="http://schemas.openxmlformats.org/drawingml/2006/main">
              <a:ext uri="{FF2B5EF4-FFF2-40B4-BE49-F238E27FC236}">
                <a16:creationId xmlns:a16="http://schemas.microsoft.com/office/drawing/2014/main" id="{1B3A2A73-6EDB-43B0-A084-CF191606D84E}"/>
              </a:ext>
            </a:extLst>
          </p:cNvPr>
          <p:cNvSpPr>
            <a:spLocks xmlns:a="http://schemas.openxmlformats.org/drawingml/2006/main" noGrp="1"/>
          </p:cNvSpPr>
          <p:nvPr/>
        </p:nvSpPr>
        <p:spPr>
          <a:xfrm xmlns:a="http://schemas.openxmlformats.org/drawingml/2006/main">
            <a:off x="628650" y="63912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A665E"/>
                </a:solidFill>
                <a:latin typeface="DejaVu Sans"/>
                <a:ea typeface="DejaVu Sans"/>
                <a:cs typeface="DejaVu Sans"/>
              </a:defRPr>
            </a:pPr>
            <a:r>
              <a:rPr sz="1125" b="0">
                <a:solidFill>
                  <a:srgbClr val="6A665E"/>
                </a:solidFill>
                <a:latin typeface="DejaVu Sans"/>
                <a:ea typeface="DejaVu Sans"/>
                <a:cs typeface="DejaVu Sans"/>
              </a:rPr>
              <a:t>Session 3   /   Chapters 5–6   /   15 of 15</a:t>
            </a:r>
          </a:p>
        </p:txBody>
      </p:sp>
    </p:spTree>
    <p:extLst>
      <p:ext uri="{BB962C8B-B14F-4D97-AF65-F5344CB8AC3E}">
        <p14:creationId xmlns:p14="http://schemas.microsoft.com/office/powerpoint/2010/main" val="12643511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2026-09-30T07:34:25.4260000Z</dcterms:created>
  <dcterms:modified xsi:type="dcterms:W3CDTF">2026-09-30T07:34:25.4260000Z</dcterms:modified>
</coreProperties>
</file>